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4" r:id="rId9"/>
    <p:sldId id="265" r:id="rId10"/>
    <p:sldId id="266"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A36E2145-197D-04A2-9EC5-3023A858A04A}">
          <p14:sldIdLst>
            <p14:sldId id="256"/>
            <p14:sldId id="257"/>
          </p14:sldIdLst>
        </p14:section>
        <p14:section name="Method" id="{1F467AF8-D363-FA4B-AE0E-05D8F855C7AC}">
          <p14:sldIdLst>
            <p14:sldId id="258"/>
            <p14:sldId id="259"/>
            <p14:sldId id="260"/>
            <p14:sldId id="261"/>
          </p14:sldIdLst>
        </p14:section>
        <p14:section name="Result" id="{6D8D3156-D79B-ABA0-2CD1-471AF6E000E6}">
          <p14:sldIdLst>
            <p14:sldId id="262"/>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6302B"/>
                </a:solidFill>
                <a:latin typeface="+mn-lt"/>
              </a:defRPr>
            </a:pPr>
            <a:r>
              <a:rPr lang="en-IN" sz="1400" b="0" i="0" u="none" strike="noStrike">
                <a:solidFill>
                  <a:srgbClr val="16302B"/>
                </a:solidFill>
                <a:latin typeface="+mn-lt"/>
              </a:rPr>
              <a:t>Records by source law</a:t>
            </a:r>
          </a:p>
        </c:rich>
      </c:tx>
      <c:overlay val="0"/>
    </c:title>
    <c:autoTitleDeleted val="0"/>
    <c:plotArea>
      <c:layout/>
      <c:doughnutChart>
        <c:varyColors val="1"/>
        <c:ser>
          <c:idx val="0"/>
          <c:order val="0"/>
          <c:tx>
            <c:strRef>
              <c:f>Sheet1!$B$1</c:f>
              <c:strCache>
                <c:ptCount val="1"/>
                <c:pt idx="0">
                  <c:v>Records</c:v>
                </c:pt>
              </c:strCache>
            </c:strRef>
          </c:tx>
          <c:spPr>
            <a:solidFill>
              <a:schemeClr val="accent1"/>
            </a:solidFill>
            <a:ln w="9525" cap="flat">
              <a:solidFill>
                <a:srgbClr val="F9F9F9"/>
              </a:solidFill>
              <a:prstDash val="solid"/>
              <a:round/>
            </a:ln>
            <a:effectLst/>
          </c:spPr>
          <c:dPt>
            <c:idx val="0"/>
            <c:bubble3D val="0"/>
            <c:spPr>
              <a:solidFill>
                <a:srgbClr val="2E7D6B"/>
              </a:solidFill>
              <a:effectLst/>
            </c:spPr>
            <c:extLst>
              <c:ext xmlns:c16="http://schemas.microsoft.com/office/drawing/2014/chart" uri="{C3380CC4-5D6E-409C-BE32-E72D297353CC}">
                <c16:uniqueId val="{00000001-1B7D-456D-869B-3C48C2E58560}"/>
              </c:ext>
            </c:extLst>
          </c:dPt>
          <c:dPt>
            <c:idx val="1"/>
            <c:bubble3D val="0"/>
            <c:spPr>
              <a:solidFill>
                <a:srgbClr val="B5483A"/>
              </a:solidFill>
              <a:effectLst/>
            </c:spPr>
            <c:extLst>
              <c:ext xmlns:c16="http://schemas.microsoft.com/office/drawing/2014/chart" uri="{C3380CC4-5D6E-409C-BE32-E72D297353CC}">
                <c16:uniqueId val="{00000003-1B7D-456D-869B-3C48C2E58560}"/>
              </c:ext>
            </c:extLst>
          </c:dPt>
          <c:dLbls>
            <c:dLbl>
              <c:idx val="0"/>
              <c:numFmt formatCode="General" sourceLinked="0"/>
              <c:spPr/>
              <c:txPr>
                <a:bodyPr/>
                <a:lstStyle/>
                <a:p>
                  <a:pPr>
                    <a:defRPr sz="14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B7D-456D-869B-3C48C2E58560}"/>
                </c:ext>
              </c:extLst>
            </c:dLbl>
            <c:dLbl>
              <c:idx val="1"/>
              <c:numFmt formatCode="General" sourceLinked="0"/>
              <c:spPr/>
              <c:txPr>
                <a:bodyPr/>
                <a:lstStyle/>
                <a:p>
                  <a:pPr>
                    <a:defRPr sz="1400" b="0" i="0" u="none" strike="noStrike">
                      <a:solidFill>
                        <a:srgbClr val="FFFFFF"/>
                      </a:solidFill>
                      <a:latin typeface="+mn-lt"/>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B7D-456D-869B-3C48C2E58560}"/>
                </c:ext>
              </c:extLst>
            </c:dLbl>
            <c:numFmt formatCode="General"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BNSS (procedure)</c:v>
                </c:pt>
                <c:pt idx="1">
                  <c:v>BNS (offences)</c:v>
                </c:pt>
              </c:strCache>
            </c:strRef>
          </c:cat>
          <c:val>
            <c:numRef>
              <c:f>Sheet1!$B$2:$B$3</c:f>
              <c:numCache>
                <c:formatCode>General</c:formatCode>
                <c:ptCount val="2"/>
                <c:pt idx="0">
                  <c:v>2852</c:v>
                </c:pt>
                <c:pt idx="1">
                  <c:v>2148</c:v>
                </c:pt>
              </c:numCache>
            </c:numRef>
          </c:val>
          <c:extLst>
            <c:ext xmlns:c16="http://schemas.microsoft.com/office/drawing/2014/chart" uri="{C3380CC4-5D6E-409C-BE32-E72D297353CC}">
              <c16:uniqueId val="{00000004-1B7D-456D-869B-3C48C2E58560}"/>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solidFill>
                <a:srgbClr val="1B1B1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1571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answer four questions from sir: how we created the dataset, which repository we used, what the source did not contain, and how ours is different from datasets already available.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as the map of the talk. Each of the next slides answers one of these questions in detail.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legal datasets exist. Most are Q&amp;A pairs for chatbots, raw section text, or old-to-new section mappings. Ours takes the Q&amp;A source and reshapes it into a flat, labelled table for classification and retrieval. We are honest that our source is an existing dataset.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simple steps: collect, structure, label, validate. The source gives six question types per section (definition, topic, scenario, elements, exceptions, consequence). We kept them as category labels, which gives balanced classes for training.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work is the restructuring: one flat schema, unique IDs, source traceability, balanced category labels and a section citation inside every description. The legal text and the six question types come from the source, so say that openly. Our contribution is the flat schema, IDs, traceability, citations and validation for classification use.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columns in total. Seven are filled for all 5,000 rows. The four gold columns (Punishment, Cognizable, Bailable, Compoundable) are planned and currently empty; they are the next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our validation step. Each of the 834 source records gives six samples, so the six categories are almost perfectly balanced (833 or 834 each).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and Hugging Face links are the repositories we compared with and learned from. The ILDC paper is a published Indian legal NLP dataset paper (Malik et al., ACL 2021), cited as related research on how such datasets are built and evaluated.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link. The first row is our starting point. The GitHub repositories are comparison material and a possible source for the empty legal-attribute columns (leo-law has the BNSS schedule data). The last row is the research paper, cited as related work on Indian legal NLP datasets.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linked sources. Text becomes labelled data in these projects by parsing official text into JSON, attaching section numbers and classifications, and, in the ILDC paper, by expert annotation. Be ready to state the tools your own team used for the 11-column table.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rtlCol="0"/>
          <a:lstStyle>
            <a:lvl1pPr marL="0" indent="0">
              <a:buNone/>
              <a:defRPr lang="en-US" sz="3400" b="1" dirty="0">
                <a:solidFill>
                  <a:schemeClr val="tx2"/>
                </a:solidFill>
              </a:defRPr>
            </a:lvl1pPr>
          </a:lstStyle>
          <a:p>
            <a:pPr marL="0" indent="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302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88720"/>
            <a:ext cx="6035040" cy="1828800"/>
          </a:xfrm>
          <a:prstGeom prst="rect">
            <a:avLst/>
          </a:prstGeom>
          <a:noFill/>
          <a:ln/>
        </p:spPr>
        <p:txBody>
          <a:bodyPr wrap="square" rtlCol="0"/>
          <a:lstStyle>
            <a:lvl1pPr marL="0" indent="0">
              <a:buNone/>
              <a:defRPr lang="en-US" sz="4000" b="1" dirty="0">
                <a:solidFill>
                  <a:schemeClr val="bg1"/>
                </a:solidFill>
              </a:defRPr>
            </a:lvl1pPr>
          </a:lstStyle>
          <a:p>
            <a:pPr marL="0" indent="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github.com/leojai23/leo-law" TargetMode="External"/><Relationship Id="rId3" Type="http://schemas.openxmlformats.org/officeDocument/2006/relationships/hyperlink" Target="https://huggingface.co/datasets/GSMS-B/Indian-Legal-QA-BNS-BNSS-BSA" TargetMode="External"/><Relationship Id="rId7" Type="http://schemas.openxmlformats.org/officeDocument/2006/relationships/hyperlink" Target="https://github.com/kanoonhq/open-law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github.com/gargshubham3/open-nyaya" TargetMode="External"/><Relationship Id="rId5" Type="http://schemas.openxmlformats.org/officeDocument/2006/relationships/hyperlink" Target="https://github.com/GSMS-B/ipc-bns-crpc-bnss-iea-bsa-respective-old-new-sections-mapping" TargetMode="External"/><Relationship Id="rId4" Type="http://schemas.openxmlformats.org/officeDocument/2006/relationships/hyperlink" Target="https://github.com/GSMS-B/indian-legal-knowledge-base-json" TargetMode="External"/><Relationship Id="rId9" Type="http://schemas.openxmlformats.org/officeDocument/2006/relationships/hyperlink" Target="https://arxiv.org/abs/2105.13562"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88720"/>
            <a:ext cx="6035040" cy="1828800"/>
          </a:xfrm>
          <a:prstGeom prst="rect">
            <a:avLst/>
          </a:prstGeom>
          <a:noFill/>
          <a:ln/>
        </p:spPr>
        <p:txBody>
          <a:bodyPr wrap="square" lIns="0" tIns="0" rIns="0" bIns="0" rtlCol="0" anchor="ctr"/>
          <a:lstStyle/>
          <a:p>
            <a:pPr marL="0" indent="0">
              <a:buNone/>
            </a:pPr>
            <a:r>
              <a:rPr lang="en-US" sz="4000" b="1" dirty="0">
                <a:solidFill>
                  <a:schemeClr val="bg1"/>
                </a:solidFill>
              </a:rPr>
              <a:t>Indian Criminal Law Dataset</a:t>
            </a:r>
            <a:endParaRPr lang="en-US" sz="4000" dirty="0"/>
          </a:p>
        </p:txBody>
      </p:sp>
      <p:sp>
        <p:nvSpPr>
          <p:cNvPr id="3" name="Text 1"/>
          <p:cNvSpPr txBox="1"/>
          <p:nvPr/>
        </p:nvSpPr>
        <p:spPr>
          <a:xfrm>
            <a:off x="548640" y="3154680"/>
            <a:ext cx="6035040" cy="365760"/>
          </a:xfrm>
          <a:prstGeom prst="rect">
            <a:avLst/>
          </a:prstGeom>
          <a:noFill/>
          <a:ln/>
        </p:spPr>
        <p:txBody>
          <a:bodyPr wrap="square" lIns="0" tIns="0" rIns="0" bIns="0" rtlCol="0" anchor="ctr"/>
          <a:lstStyle/>
          <a:p>
            <a:pPr marL="0" indent="0">
              <a:buNone/>
            </a:pPr>
            <a:endParaRPr lang="en-US" sz="2000" dirty="0"/>
          </a:p>
        </p:txBody>
      </p:sp>
      <p:sp>
        <p:nvSpPr>
          <p:cNvPr id="4" name="Text 2"/>
          <p:cNvSpPr txBox="1"/>
          <p:nvPr/>
        </p:nvSpPr>
        <p:spPr>
          <a:xfrm>
            <a:off x="1744394" y="3397348"/>
            <a:ext cx="6161649" cy="557432"/>
          </a:xfrm>
          <a:prstGeom prst="rect">
            <a:avLst/>
          </a:prstGeom>
          <a:noFill/>
          <a:ln/>
        </p:spPr>
        <p:txBody>
          <a:bodyPr wrap="square" lIns="0" tIns="0" rIns="0" bIns="0" rtlCol="0" anchor="ctr"/>
          <a:lstStyle/>
          <a:p>
            <a:pPr marL="0" indent="0">
              <a:buNone/>
            </a:pPr>
            <a:r>
              <a:rPr lang="en-US" sz="1400" dirty="0">
                <a:solidFill>
                  <a:schemeClr val="bg2"/>
                </a:solidFill>
              </a:rPr>
              <a:t>ML Project Presentation  |  BNS and BNSS provisions</a:t>
            </a:r>
            <a:endParaRPr lang="en-US" sz="1400" dirty="0"/>
          </a:p>
        </p:txBody>
      </p:sp>
      <p:sp>
        <p:nvSpPr>
          <p:cNvPr id="5" name="Text 3"/>
          <p:cNvSpPr/>
          <p:nvPr/>
        </p:nvSpPr>
        <p:spPr>
          <a:xfrm>
            <a:off x="6858000" y="1371600"/>
            <a:ext cx="1737360" cy="1737360"/>
          </a:xfrm>
          <a:prstGeom prst="ellipse">
            <a:avLst/>
          </a:prstGeom>
          <a:solidFill>
            <a:schemeClr val="accent1"/>
          </a:solidFill>
          <a:ln/>
        </p:spPr>
        <p:txBody>
          <a:bodyPr wrap="square" lIns="0" tIns="0" rIns="0" bIns="0" rtlCol="0" anchor="ctr"/>
          <a:lstStyle/>
          <a:p>
            <a:pPr marL="0" indent="0" algn="ctr">
              <a:buNone/>
            </a:pPr>
            <a:r>
              <a:rPr lang="en-US" sz="8800" b="1" dirty="0">
                <a:solidFill>
                  <a:schemeClr val="tx2"/>
                </a:solidFill>
              </a:rPr>
              <a:t>§</a:t>
            </a:r>
            <a:endParaRPr lang="en-US" sz="8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chemeClr val="tx2"/>
                </a:solidFill>
              </a:rPr>
              <a:t>Four questions, answered</a:t>
            </a:r>
            <a:endParaRPr lang="en-US" sz="3400" dirty="0"/>
          </a:p>
        </p:txBody>
      </p:sp>
      <p:sp>
        <p:nvSpPr>
          <p:cNvPr id="3" name="Shape 1"/>
          <p:cNvSpPr/>
          <p:nvPr/>
        </p:nvSpPr>
        <p:spPr>
          <a:xfrm>
            <a:off x="457200" y="1234440"/>
            <a:ext cx="3977640" cy="1645920"/>
          </a:xfrm>
          <a:prstGeom prst="roundRect">
            <a:avLst>
              <a:gd name="adj" fmla="val 6667"/>
            </a:avLst>
          </a:prstGeom>
          <a:solidFill>
            <a:schemeClr val="bg2"/>
          </a:solidFill>
          <a:ln/>
        </p:spPr>
      </p:sp>
      <p:sp>
        <p:nvSpPr>
          <p:cNvPr id="4" name="Text 2"/>
          <p:cNvSpPr/>
          <p:nvPr/>
        </p:nvSpPr>
        <p:spPr>
          <a:xfrm>
            <a:off x="685800" y="141732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5" name="Text 3"/>
          <p:cNvSpPr txBox="1"/>
          <p:nvPr/>
        </p:nvSpPr>
        <p:spPr>
          <a:xfrm>
            <a:off x="1280160" y="1417320"/>
            <a:ext cx="3017520" cy="457200"/>
          </a:xfrm>
          <a:prstGeom prst="rect">
            <a:avLst/>
          </a:prstGeom>
          <a:noFill/>
          <a:ln/>
        </p:spPr>
        <p:txBody>
          <a:bodyPr wrap="square" lIns="0" tIns="0" rIns="0" bIns="0" rtlCol="0" anchor="ctr"/>
          <a:lstStyle/>
          <a:p>
            <a:pPr marL="0" indent="0">
              <a:buNone/>
            </a:pPr>
            <a:r>
              <a:rPr lang="en-US" sz="1800" b="1" dirty="0">
                <a:solidFill>
                  <a:schemeClr val="tx2"/>
                </a:solidFill>
              </a:rPr>
              <a:t>How did we create it?</a:t>
            </a:r>
            <a:endParaRPr lang="en-US" sz="1800" dirty="0"/>
          </a:p>
        </p:txBody>
      </p:sp>
      <p:sp>
        <p:nvSpPr>
          <p:cNvPr id="6" name="Text 4"/>
          <p:cNvSpPr txBox="1"/>
          <p:nvPr/>
        </p:nvSpPr>
        <p:spPr>
          <a:xfrm>
            <a:off x="685800" y="2011680"/>
            <a:ext cx="3520440" cy="777240"/>
          </a:xfrm>
          <a:prstGeom prst="rect">
            <a:avLst/>
          </a:prstGeom>
          <a:noFill/>
          <a:ln/>
        </p:spPr>
        <p:txBody>
          <a:bodyPr wrap="square" lIns="0" tIns="0" rIns="0" bIns="0" rtlCol="0" anchor="t"/>
          <a:lstStyle/>
          <a:p>
            <a:pPr marL="0" indent="0">
              <a:buNone/>
            </a:pPr>
            <a:r>
              <a:rPr lang="en-US" sz="1400" dirty="0">
                <a:solidFill>
                  <a:schemeClr val="tx1"/>
                </a:solidFill>
              </a:rPr>
              <a:t>Restructured public BNS and BNSS records into one flat table: 834 source records became 5,000 unique rows.</a:t>
            </a:r>
            <a:endParaRPr lang="en-US" sz="1400" dirty="0"/>
          </a:p>
        </p:txBody>
      </p:sp>
      <p:sp>
        <p:nvSpPr>
          <p:cNvPr id="7" name="Shape 5"/>
          <p:cNvSpPr/>
          <p:nvPr/>
        </p:nvSpPr>
        <p:spPr>
          <a:xfrm>
            <a:off x="4709160" y="1234440"/>
            <a:ext cx="3977640" cy="1645920"/>
          </a:xfrm>
          <a:prstGeom prst="roundRect">
            <a:avLst>
              <a:gd name="adj" fmla="val 6667"/>
            </a:avLst>
          </a:prstGeom>
          <a:solidFill>
            <a:schemeClr val="bg2"/>
          </a:solidFill>
          <a:ln/>
        </p:spPr>
      </p:sp>
      <p:sp>
        <p:nvSpPr>
          <p:cNvPr id="8" name="Text 6"/>
          <p:cNvSpPr/>
          <p:nvPr/>
        </p:nvSpPr>
        <p:spPr>
          <a:xfrm>
            <a:off x="4937760" y="141732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9" name="Text 7"/>
          <p:cNvSpPr txBox="1"/>
          <p:nvPr/>
        </p:nvSpPr>
        <p:spPr>
          <a:xfrm>
            <a:off x="5532120" y="1417320"/>
            <a:ext cx="3017520" cy="457200"/>
          </a:xfrm>
          <a:prstGeom prst="rect">
            <a:avLst/>
          </a:prstGeom>
          <a:noFill/>
          <a:ln/>
        </p:spPr>
        <p:txBody>
          <a:bodyPr wrap="square" lIns="0" tIns="0" rIns="0" bIns="0" rtlCol="0" anchor="ctr"/>
          <a:lstStyle/>
          <a:p>
            <a:pPr marL="0" indent="0">
              <a:buNone/>
            </a:pPr>
            <a:r>
              <a:rPr lang="en-US" sz="1800" b="1" dirty="0">
                <a:solidFill>
                  <a:schemeClr val="tx2"/>
                </a:solidFill>
              </a:rPr>
              <a:t>Which sources did we use?</a:t>
            </a:r>
            <a:endParaRPr lang="en-US" sz="1800" dirty="0"/>
          </a:p>
        </p:txBody>
      </p:sp>
      <p:sp>
        <p:nvSpPr>
          <p:cNvPr id="10" name="Text 8"/>
          <p:cNvSpPr txBox="1"/>
          <p:nvPr/>
        </p:nvSpPr>
        <p:spPr>
          <a:xfrm>
            <a:off x="4937760" y="2011680"/>
            <a:ext cx="3520440" cy="777240"/>
          </a:xfrm>
          <a:prstGeom prst="rect">
            <a:avLst/>
          </a:prstGeom>
          <a:noFill/>
          <a:ln/>
        </p:spPr>
        <p:txBody>
          <a:bodyPr wrap="square" lIns="0" tIns="0" rIns="0" bIns="0" rtlCol="0" anchor="t"/>
          <a:lstStyle/>
          <a:p>
            <a:pPr marL="0" indent="0">
              <a:buNone/>
            </a:pPr>
            <a:r>
              <a:rPr lang="en-US" sz="1400" dirty="0">
                <a:solidFill>
                  <a:schemeClr val="tx1"/>
                </a:solidFill>
              </a:rPr>
              <a:t>Hugging Face Indian Legal QA (6,354 Q&amp;A pairs), compared with GitHub legal corpora. Links on the last slide.</a:t>
            </a:r>
            <a:endParaRPr lang="en-US" sz="1400" dirty="0"/>
          </a:p>
        </p:txBody>
      </p:sp>
      <p:sp>
        <p:nvSpPr>
          <p:cNvPr id="11" name="Shape 9"/>
          <p:cNvSpPr/>
          <p:nvPr/>
        </p:nvSpPr>
        <p:spPr>
          <a:xfrm>
            <a:off x="457200" y="3063240"/>
            <a:ext cx="3977640" cy="1645920"/>
          </a:xfrm>
          <a:prstGeom prst="roundRect">
            <a:avLst>
              <a:gd name="adj" fmla="val 6667"/>
            </a:avLst>
          </a:prstGeom>
          <a:solidFill>
            <a:schemeClr val="bg2"/>
          </a:solidFill>
          <a:ln/>
        </p:spPr>
      </p:sp>
      <p:sp>
        <p:nvSpPr>
          <p:cNvPr id="12" name="Text 10"/>
          <p:cNvSpPr/>
          <p:nvPr/>
        </p:nvSpPr>
        <p:spPr>
          <a:xfrm>
            <a:off x="685800" y="324612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3" name="Text 11"/>
          <p:cNvSpPr txBox="1"/>
          <p:nvPr/>
        </p:nvSpPr>
        <p:spPr>
          <a:xfrm>
            <a:off x="1280160" y="3246120"/>
            <a:ext cx="3017520" cy="457200"/>
          </a:xfrm>
          <a:prstGeom prst="rect">
            <a:avLst/>
          </a:prstGeom>
          <a:noFill/>
          <a:ln/>
        </p:spPr>
        <p:txBody>
          <a:bodyPr wrap="square" lIns="0" tIns="0" rIns="0" bIns="0" rtlCol="0" anchor="ctr"/>
          <a:lstStyle/>
          <a:p>
            <a:pPr marL="0" indent="0">
              <a:buNone/>
            </a:pPr>
            <a:r>
              <a:rPr lang="en-US" sz="1800" b="1" dirty="0">
                <a:solidFill>
                  <a:schemeClr val="tx2"/>
                </a:solidFill>
              </a:rPr>
              <a:t>What was missing in it?</a:t>
            </a:r>
            <a:endParaRPr lang="en-US" sz="1800" dirty="0"/>
          </a:p>
        </p:txBody>
      </p:sp>
      <p:sp>
        <p:nvSpPr>
          <p:cNvPr id="14" name="Text 12"/>
          <p:cNvSpPr txBox="1"/>
          <p:nvPr/>
        </p:nvSpPr>
        <p:spPr>
          <a:xfrm>
            <a:off x="685800" y="3840480"/>
            <a:ext cx="3520440" cy="777240"/>
          </a:xfrm>
          <a:prstGeom prst="rect">
            <a:avLst/>
          </a:prstGeom>
          <a:noFill/>
          <a:ln/>
        </p:spPr>
        <p:txBody>
          <a:bodyPr wrap="square" lIns="0" tIns="0" rIns="0" bIns="0" rtlCol="0" anchor="t"/>
          <a:lstStyle/>
          <a:p>
            <a:pPr marL="0" indent="0">
              <a:buNone/>
            </a:pPr>
            <a:r>
              <a:rPr lang="en-US" sz="1400" dirty="0">
                <a:solidFill>
                  <a:schemeClr val="tx1"/>
                </a:solidFill>
              </a:rPr>
              <a:t>The source is Q&amp;A pairs for chatbot training. It is not a flat, labelled table ready for classification.</a:t>
            </a:r>
            <a:endParaRPr lang="en-US" sz="1400" dirty="0"/>
          </a:p>
        </p:txBody>
      </p:sp>
      <p:sp>
        <p:nvSpPr>
          <p:cNvPr id="15" name="Shape 13"/>
          <p:cNvSpPr/>
          <p:nvPr/>
        </p:nvSpPr>
        <p:spPr>
          <a:xfrm>
            <a:off x="4709160" y="3063240"/>
            <a:ext cx="3977640" cy="1645920"/>
          </a:xfrm>
          <a:prstGeom prst="roundRect">
            <a:avLst>
              <a:gd name="adj" fmla="val 6667"/>
            </a:avLst>
          </a:prstGeom>
          <a:solidFill>
            <a:schemeClr val="bg2"/>
          </a:solidFill>
          <a:ln/>
        </p:spPr>
      </p:sp>
      <p:sp>
        <p:nvSpPr>
          <p:cNvPr id="16" name="Text 14"/>
          <p:cNvSpPr/>
          <p:nvPr/>
        </p:nvSpPr>
        <p:spPr>
          <a:xfrm>
            <a:off x="4937760" y="3246120"/>
            <a:ext cx="457200" cy="45720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17" name="Text 15"/>
          <p:cNvSpPr txBox="1"/>
          <p:nvPr/>
        </p:nvSpPr>
        <p:spPr>
          <a:xfrm>
            <a:off x="5532120" y="3246120"/>
            <a:ext cx="3017520" cy="457200"/>
          </a:xfrm>
          <a:prstGeom prst="rect">
            <a:avLst/>
          </a:prstGeom>
          <a:noFill/>
          <a:ln/>
        </p:spPr>
        <p:txBody>
          <a:bodyPr wrap="square" lIns="0" tIns="0" rIns="0" bIns="0" rtlCol="0" anchor="ctr"/>
          <a:lstStyle/>
          <a:p>
            <a:pPr marL="0" indent="0">
              <a:buNone/>
            </a:pPr>
            <a:r>
              <a:rPr lang="en-US" sz="1800" b="1" dirty="0">
                <a:solidFill>
                  <a:schemeClr val="tx2"/>
                </a:solidFill>
              </a:rPr>
              <a:t>Why is ours different?</a:t>
            </a:r>
            <a:endParaRPr lang="en-US" sz="1800" dirty="0"/>
          </a:p>
        </p:txBody>
      </p:sp>
      <p:sp>
        <p:nvSpPr>
          <p:cNvPr id="18" name="Text 16"/>
          <p:cNvSpPr txBox="1"/>
          <p:nvPr/>
        </p:nvSpPr>
        <p:spPr>
          <a:xfrm>
            <a:off x="4937760" y="3840480"/>
            <a:ext cx="3520440" cy="777240"/>
          </a:xfrm>
          <a:prstGeom prst="rect">
            <a:avLst/>
          </a:prstGeom>
          <a:noFill/>
          <a:ln/>
        </p:spPr>
        <p:txBody>
          <a:bodyPr wrap="square" lIns="0" tIns="0" rIns="0" bIns="0" rtlCol="0" anchor="t"/>
          <a:lstStyle/>
          <a:p>
            <a:pPr marL="0" indent="0">
              <a:buNone/>
            </a:pPr>
            <a:r>
              <a:rPr lang="en-US" sz="1400" dirty="0">
                <a:solidFill>
                  <a:schemeClr val="tx1"/>
                </a:solidFill>
              </a:rPr>
              <a:t>A balanced, validated, ML-ready table: six labelled content types and a section citation in every row.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chemeClr val="tx2"/>
                </a:solidFill>
              </a:rPr>
              <a:t>What exists vs. ours</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182112"/>
        </p:xfrm>
        <a:graphic>
          <a:graphicData uri="http://schemas.openxmlformats.org/drawingml/2006/table">
            <a:tbl>
              <a:tblPr/>
              <a:tblGrid>
                <a:gridCol w="26517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530352">
                <a:tc>
                  <a:txBody>
                    <a:bodyPr/>
                    <a:lstStyle/>
                    <a:p>
                      <a:pPr marL="0" indent="0">
                        <a:buNone/>
                      </a:pPr>
                      <a:r>
                        <a:rPr lang="en-US" sz="1300" b="1" dirty="0">
                          <a:solidFill>
                            <a:srgbClr val="FFFFFF"/>
                          </a:solidFill>
                        </a:rPr>
                        <a:t>Dataset</a:t>
                      </a:r>
                      <a:endParaRPr lang="en-US" sz="13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16302B"/>
                    </a:solidFill>
                  </a:tcPr>
                </a:tc>
                <a:tc>
                  <a:txBody>
                    <a:bodyPr/>
                    <a:lstStyle/>
                    <a:p>
                      <a:pPr marL="0" indent="0">
                        <a:buNone/>
                      </a:pPr>
                      <a:r>
                        <a:rPr lang="en-US" sz="1300" b="1" dirty="0">
                          <a:solidFill>
                            <a:srgbClr val="FFFFFF"/>
                          </a:solidFill>
                        </a:rPr>
                        <a:t>What it offers</a:t>
                      </a:r>
                      <a:endParaRPr lang="en-US" sz="13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16302B"/>
                    </a:solidFill>
                  </a:tcPr>
                </a:tc>
                <a:tc>
                  <a:txBody>
                    <a:bodyPr/>
                    <a:lstStyle/>
                    <a:p>
                      <a:pPr marL="0" indent="0">
                        <a:buNone/>
                      </a:pPr>
                      <a:r>
                        <a:rPr lang="en-US" sz="1300" b="1" dirty="0">
                          <a:solidFill>
                            <a:srgbClr val="FFFFFF"/>
                          </a:solidFill>
                        </a:rPr>
                        <a:t>Gap for classification ML</a:t>
                      </a:r>
                      <a:endParaRPr lang="en-US" sz="13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16302B"/>
                    </a:solidFill>
                  </a:tcPr>
                </a:tc>
                <a:extLst>
                  <a:ext uri="{0D108BD9-81ED-4DB2-BD59-A6C34878D82A}">
                    <a16:rowId xmlns:a16="http://schemas.microsoft.com/office/drawing/2014/main" val="10000"/>
                  </a:ext>
                </a:extLst>
              </a:tr>
              <a:tr h="530352">
                <a:tc>
                  <a:txBody>
                    <a:bodyPr/>
                    <a:lstStyle/>
                    <a:p>
                      <a:pPr marL="0" indent="0">
                        <a:buNone/>
                      </a:pPr>
                      <a:r>
                        <a:rPr lang="en-US" sz="1200" b="1" dirty="0">
                          <a:solidFill>
                            <a:srgbClr val="1B1B1B"/>
                          </a:solidFill>
                        </a:rPr>
                        <a:t>Indian Legal QA (Hugging Face)</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6,354 Q&amp;A pairs, six per section, on BNS, BNSS, BSA</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Q&amp;A for fine-tuning. Our starting point</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200" b="1" dirty="0">
                          <a:solidFill>
                            <a:srgbClr val="1B1B1B"/>
                          </a:solidFill>
                        </a:rPr>
                        <a:t>Indian Legal Knowledge Base (GitHub)</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12,174 sections of 102 Indian Acts as JSON</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Raw section text, no labels</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200" b="1" dirty="0">
                          <a:solidFill>
                            <a:srgbClr val="1B1B1B"/>
                          </a:solidFill>
                        </a:rPr>
                        <a:t>Old–new Sections Mapping (GitHub)</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Maps IPC to BNS, CrPC to BNSS, IEA to BSA</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Maps sections, not training text</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200" b="1" dirty="0">
                          <a:solidFill>
                            <a:srgbClr val="1B1B1B"/>
                          </a:solidFill>
                        </a:rPr>
                        <a:t>open-nyaya (GitHub)</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Full text of 358 BNS, 531 BNSS, 170 BSA sections</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A lawyers' toolkit, not a labelled dataset</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buNone/>
                      </a:pPr>
                      <a:r>
                        <a:rPr lang="en-US" sz="1200" b="1" dirty="0">
                          <a:solidFill>
                            <a:srgbClr val="1B1B1B"/>
                          </a:solidFill>
                        </a:rPr>
                        <a:t>Our dataset</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BE9A8"/>
                    </a:solidFill>
                  </a:tcPr>
                </a:tc>
                <a:tc>
                  <a:txBody>
                    <a:bodyPr/>
                    <a:lstStyle/>
                    <a:p>
                      <a:pPr marL="0" indent="0">
                        <a:buNone/>
                      </a:pPr>
                      <a:r>
                        <a:rPr lang="en-US" sz="1200" dirty="0">
                          <a:solidFill>
                            <a:srgbClr val="1B1B1B"/>
                          </a:solidFill>
                        </a:rPr>
                        <a:t>5,000 flat rows, BNS + BNSS, six content labels</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BE9A8"/>
                    </a:solidFill>
                  </a:tcPr>
                </a:tc>
                <a:tc>
                  <a:txBody>
                    <a:bodyPr/>
                    <a:lstStyle/>
                    <a:p>
                      <a:pPr marL="0" indent="0">
                        <a:buNone/>
                      </a:pPr>
                      <a:r>
                        <a:rPr lang="en-US" sz="1200" dirty="0">
                          <a:solidFill>
                            <a:srgbClr val="1B1B1B"/>
                          </a:solidFill>
                        </a:rPr>
                        <a:t>Ready for classification and retrieval</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BE9A8"/>
                    </a:solidFill>
                  </a:tcPr>
                </a:tc>
                <a:extLst>
                  <a:ext uri="{0D108BD9-81ED-4DB2-BD59-A6C34878D82A}">
                    <a16:rowId xmlns:a16="http://schemas.microsoft.com/office/drawing/2014/main" val="10005"/>
                  </a:ext>
                </a:extLst>
              </a:tr>
            </a:tbl>
          </a:graphicData>
        </a:graphic>
      </p:graphicFrame>
      <p:sp>
        <p:nvSpPr>
          <p:cNvPr id="3" name="Text 1"/>
          <p:cNvSpPr txBox="1"/>
          <p:nvPr/>
        </p:nvSpPr>
        <p:spPr>
          <a:xfrm>
            <a:off x="457200" y="4572000"/>
            <a:ext cx="8229600" cy="274320"/>
          </a:xfrm>
          <a:prstGeom prst="rect">
            <a:avLst/>
          </a:prstGeom>
          <a:noFill/>
          <a:ln/>
        </p:spPr>
        <p:txBody>
          <a:bodyPr wrap="square" lIns="0" tIns="0" rIns="0" bIns="0" rtlCol="0" anchor="ctr"/>
          <a:lstStyle/>
          <a:p>
            <a:pPr marL="0" indent="0">
              <a:buNone/>
            </a:pPr>
            <a:r>
              <a:rPr lang="en-US" sz="1100" dirty="0">
                <a:solidFill>
                  <a:schemeClr val="accent6"/>
                </a:solidFill>
              </a:rPr>
              <a:t>Sources: GitHub and Hugging Face repositories. Links are on the last slide.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chemeClr val="tx2"/>
                </a:solidFill>
              </a:rPr>
              <a:t>How we built it</a:t>
            </a:r>
            <a:endParaRPr lang="en-US" sz="3400" dirty="0"/>
          </a:p>
        </p:txBody>
      </p:sp>
      <p:sp>
        <p:nvSpPr>
          <p:cNvPr id="3" name="Text 1"/>
          <p:cNvSpPr/>
          <p:nvPr/>
        </p:nvSpPr>
        <p:spPr>
          <a:xfrm>
            <a:off x="457200" y="128016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4" name="Text 2"/>
          <p:cNvSpPr txBox="1"/>
          <p:nvPr/>
        </p:nvSpPr>
        <p:spPr>
          <a:xfrm>
            <a:off x="457200" y="1965960"/>
            <a:ext cx="1920240" cy="365760"/>
          </a:xfrm>
          <a:prstGeom prst="rect">
            <a:avLst/>
          </a:prstGeom>
          <a:noFill/>
          <a:ln/>
        </p:spPr>
        <p:txBody>
          <a:bodyPr wrap="square" lIns="0" tIns="0" rIns="0" bIns="0" rtlCol="0" anchor="ctr"/>
          <a:lstStyle/>
          <a:p>
            <a:pPr marL="0" indent="0">
              <a:buNone/>
            </a:pPr>
            <a:r>
              <a:rPr lang="en-US" sz="2000" b="1" dirty="0">
                <a:solidFill>
                  <a:schemeClr val="tx2"/>
                </a:solidFill>
              </a:rPr>
              <a:t>Collect</a:t>
            </a:r>
            <a:endParaRPr lang="en-US" sz="2000" dirty="0"/>
          </a:p>
        </p:txBody>
      </p:sp>
      <p:sp>
        <p:nvSpPr>
          <p:cNvPr id="5" name="Text 3"/>
          <p:cNvSpPr txBox="1"/>
          <p:nvPr/>
        </p:nvSpPr>
        <p:spPr>
          <a:xfrm>
            <a:off x="457200" y="2377440"/>
            <a:ext cx="1920240" cy="1234440"/>
          </a:xfrm>
          <a:prstGeom prst="rect">
            <a:avLst/>
          </a:prstGeom>
          <a:noFill/>
          <a:ln/>
        </p:spPr>
        <p:txBody>
          <a:bodyPr wrap="square" lIns="0" tIns="0" rIns="0" bIns="0" rtlCol="0" anchor="t"/>
          <a:lstStyle/>
          <a:p>
            <a:pPr marL="0" indent="0">
              <a:buNone/>
            </a:pPr>
            <a:r>
              <a:rPr lang="en-US" sz="1400" dirty="0">
                <a:solidFill>
                  <a:schemeClr val="tx1"/>
                </a:solidFill>
              </a:rPr>
              <a:t>Took structured BNS and BNSS provisions from public legal sources.</a:t>
            </a:r>
            <a:endParaRPr lang="en-US" sz="1400" dirty="0"/>
          </a:p>
        </p:txBody>
      </p:sp>
      <p:sp>
        <p:nvSpPr>
          <p:cNvPr id="6" name="Shape 4"/>
          <p:cNvSpPr/>
          <p:nvPr/>
        </p:nvSpPr>
        <p:spPr>
          <a:xfrm>
            <a:off x="457200" y="3749040"/>
            <a:ext cx="1920240" cy="914400"/>
          </a:xfrm>
          <a:prstGeom prst="roundRect">
            <a:avLst>
              <a:gd name="adj" fmla="val 12000"/>
            </a:avLst>
          </a:prstGeom>
          <a:solidFill>
            <a:schemeClr val="bg2"/>
          </a:solidFill>
          <a:ln/>
        </p:spPr>
      </p:sp>
      <p:sp>
        <p:nvSpPr>
          <p:cNvPr id="7" name="Text 5"/>
          <p:cNvSpPr txBox="1"/>
          <p:nvPr/>
        </p:nvSpPr>
        <p:spPr>
          <a:xfrm>
            <a:off x="594360" y="3794760"/>
            <a:ext cx="1645920" cy="502920"/>
          </a:xfrm>
          <a:prstGeom prst="rect">
            <a:avLst/>
          </a:prstGeom>
          <a:noFill/>
          <a:ln/>
        </p:spPr>
        <p:txBody>
          <a:bodyPr wrap="square" lIns="0" tIns="0" rIns="0" bIns="0" rtlCol="0" anchor="ctr"/>
          <a:lstStyle/>
          <a:p>
            <a:pPr marL="0" indent="0">
              <a:buNone/>
            </a:pPr>
            <a:r>
              <a:rPr lang="en-US" sz="3000" b="1" dirty="0">
                <a:solidFill>
                  <a:schemeClr val="accent2"/>
                </a:solidFill>
              </a:rPr>
              <a:t>834</a:t>
            </a:r>
            <a:endParaRPr lang="en-US" sz="3000" dirty="0"/>
          </a:p>
        </p:txBody>
      </p:sp>
      <p:sp>
        <p:nvSpPr>
          <p:cNvPr id="8" name="Text 6"/>
          <p:cNvSpPr txBox="1"/>
          <p:nvPr/>
        </p:nvSpPr>
        <p:spPr>
          <a:xfrm>
            <a:off x="594360" y="4297680"/>
            <a:ext cx="1645920" cy="274320"/>
          </a:xfrm>
          <a:prstGeom prst="rect">
            <a:avLst/>
          </a:prstGeom>
          <a:noFill/>
          <a:ln/>
        </p:spPr>
        <p:txBody>
          <a:bodyPr wrap="square" lIns="0" tIns="0" rIns="0" bIns="0" rtlCol="0" anchor="ctr"/>
          <a:lstStyle/>
          <a:p>
            <a:pPr marL="0" indent="0">
              <a:buNone/>
            </a:pPr>
            <a:r>
              <a:rPr lang="en-US" sz="1200" dirty="0">
                <a:solidFill>
                  <a:schemeClr val="tx1"/>
                </a:solidFill>
              </a:rPr>
              <a:t>source records</a:t>
            </a:r>
            <a:endParaRPr lang="en-US" sz="1200" dirty="0"/>
          </a:p>
        </p:txBody>
      </p:sp>
      <p:sp>
        <p:nvSpPr>
          <p:cNvPr id="9" name="Text 7"/>
          <p:cNvSpPr/>
          <p:nvPr/>
        </p:nvSpPr>
        <p:spPr>
          <a:xfrm>
            <a:off x="2560320" y="128016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0" name="Text 8"/>
          <p:cNvSpPr txBox="1"/>
          <p:nvPr/>
        </p:nvSpPr>
        <p:spPr>
          <a:xfrm>
            <a:off x="2560320" y="1965960"/>
            <a:ext cx="1920240" cy="365760"/>
          </a:xfrm>
          <a:prstGeom prst="rect">
            <a:avLst/>
          </a:prstGeom>
          <a:noFill/>
          <a:ln/>
        </p:spPr>
        <p:txBody>
          <a:bodyPr wrap="square" lIns="0" tIns="0" rIns="0" bIns="0" rtlCol="0" anchor="ctr"/>
          <a:lstStyle/>
          <a:p>
            <a:pPr marL="0" indent="0">
              <a:buNone/>
            </a:pPr>
            <a:r>
              <a:rPr lang="en-US" sz="2000" b="1" dirty="0">
                <a:solidFill>
                  <a:schemeClr val="tx2"/>
                </a:solidFill>
              </a:rPr>
              <a:t>Structure</a:t>
            </a:r>
            <a:endParaRPr lang="en-US" sz="2000" dirty="0"/>
          </a:p>
        </p:txBody>
      </p:sp>
      <p:sp>
        <p:nvSpPr>
          <p:cNvPr id="11" name="Text 9"/>
          <p:cNvSpPr txBox="1"/>
          <p:nvPr/>
        </p:nvSpPr>
        <p:spPr>
          <a:xfrm>
            <a:off x="2560320" y="2377440"/>
            <a:ext cx="1920240" cy="1234440"/>
          </a:xfrm>
          <a:prstGeom prst="rect">
            <a:avLst/>
          </a:prstGeom>
          <a:noFill/>
          <a:ln/>
        </p:spPr>
        <p:txBody>
          <a:bodyPr wrap="square" lIns="0" tIns="0" rIns="0" bIns="0" rtlCol="0" anchor="t"/>
          <a:lstStyle/>
          <a:p>
            <a:pPr marL="0" indent="0">
              <a:buNone/>
            </a:pPr>
            <a:r>
              <a:rPr lang="en-US" sz="1400" dirty="0">
                <a:solidFill>
                  <a:schemeClr val="tx1"/>
                </a:solidFill>
              </a:rPr>
              <a:t>Mapped every record to one 11-column schema with a unique CASE_ID.</a:t>
            </a:r>
            <a:endParaRPr lang="en-US" sz="1400" dirty="0"/>
          </a:p>
        </p:txBody>
      </p:sp>
      <p:sp>
        <p:nvSpPr>
          <p:cNvPr id="12" name="Shape 10"/>
          <p:cNvSpPr/>
          <p:nvPr/>
        </p:nvSpPr>
        <p:spPr>
          <a:xfrm>
            <a:off x="2560320" y="3749040"/>
            <a:ext cx="1920240" cy="914400"/>
          </a:xfrm>
          <a:prstGeom prst="roundRect">
            <a:avLst>
              <a:gd name="adj" fmla="val 12000"/>
            </a:avLst>
          </a:prstGeom>
          <a:solidFill>
            <a:schemeClr val="bg2"/>
          </a:solidFill>
          <a:ln/>
        </p:spPr>
      </p:sp>
      <p:sp>
        <p:nvSpPr>
          <p:cNvPr id="13" name="Text 11"/>
          <p:cNvSpPr txBox="1"/>
          <p:nvPr/>
        </p:nvSpPr>
        <p:spPr>
          <a:xfrm>
            <a:off x="2697480" y="3794760"/>
            <a:ext cx="1645920" cy="502920"/>
          </a:xfrm>
          <a:prstGeom prst="rect">
            <a:avLst/>
          </a:prstGeom>
          <a:noFill/>
          <a:ln/>
        </p:spPr>
        <p:txBody>
          <a:bodyPr wrap="square" lIns="0" tIns="0" rIns="0" bIns="0" rtlCol="0" anchor="ctr"/>
          <a:lstStyle/>
          <a:p>
            <a:pPr marL="0" indent="0">
              <a:buNone/>
            </a:pPr>
            <a:r>
              <a:rPr lang="en-US" sz="3000" b="1" dirty="0">
                <a:solidFill>
                  <a:schemeClr val="accent2"/>
                </a:solidFill>
              </a:rPr>
              <a:t>11</a:t>
            </a:r>
            <a:endParaRPr lang="en-US" sz="3000" dirty="0"/>
          </a:p>
        </p:txBody>
      </p:sp>
      <p:sp>
        <p:nvSpPr>
          <p:cNvPr id="14" name="Text 12"/>
          <p:cNvSpPr txBox="1"/>
          <p:nvPr/>
        </p:nvSpPr>
        <p:spPr>
          <a:xfrm>
            <a:off x="2697480" y="4297680"/>
            <a:ext cx="1645920" cy="274320"/>
          </a:xfrm>
          <a:prstGeom prst="rect">
            <a:avLst/>
          </a:prstGeom>
          <a:noFill/>
          <a:ln/>
        </p:spPr>
        <p:txBody>
          <a:bodyPr wrap="square" lIns="0" tIns="0" rIns="0" bIns="0" rtlCol="0" anchor="ctr"/>
          <a:lstStyle/>
          <a:p>
            <a:pPr marL="0" indent="0">
              <a:buNone/>
            </a:pPr>
            <a:r>
              <a:rPr lang="en-US" sz="1200" dirty="0">
                <a:solidFill>
                  <a:schemeClr val="tx1"/>
                </a:solidFill>
              </a:rPr>
              <a:t>schema columns</a:t>
            </a:r>
            <a:endParaRPr lang="en-US" sz="1200" dirty="0"/>
          </a:p>
        </p:txBody>
      </p:sp>
      <p:sp>
        <p:nvSpPr>
          <p:cNvPr id="15" name="Text 13"/>
          <p:cNvSpPr/>
          <p:nvPr/>
        </p:nvSpPr>
        <p:spPr>
          <a:xfrm>
            <a:off x="4663440" y="128016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16" name="Text 14"/>
          <p:cNvSpPr txBox="1"/>
          <p:nvPr/>
        </p:nvSpPr>
        <p:spPr>
          <a:xfrm>
            <a:off x="4663440" y="1965960"/>
            <a:ext cx="1920240" cy="365760"/>
          </a:xfrm>
          <a:prstGeom prst="rect">
            <a:avLst/>
          </a:prstGeom>
          <a:noFill/>
          <a:ln/>
        </p:spPr>
        <p:txBody>
          <a:bodyPr wrap="square" lIns="0" tIns="0" rIns="0" bIns="0" rtlCol="0" anchor="ctr"/>
          <a:lstStyle/>
          <a:p>
            <a:pPr marL="0" indent="0">
              <a:buNone/>
            </a:pPr>
            <a:r>
              <a:rPr lang="en-US" sz="2000" b="1" dirty="0">
                <a:solidFill>
                  <a:schemeClr val="tx2"/>
                </a:solidFill>
              </a:rPr>
              <a:t>Label</a:t>
            </a:r>
            <a:endParaRPr lang="en-US" sz="2000" dirty="0"/>
          </a:p>
        </p:txBody>
      </p:sp>
      <p:sp>
        <p:nvSpPr>
          <p:cNvPr id="17" name="Text 15"/>
          <p:cNvSpPr txBox="1"/>
          <p:nvPr/>
        </p:nvSpPr>
        <p:spPr>
          <a:xfrm>
            <a:off x="4663440" y="2377440"/>
            <a:ext cx="1920240" cy="1234440"/>
          </a:xfrm>
          <a:prstGeom prst="rect">
            <a:avLst/>
          </a:prstGeom>
          <a:noFill/>
          <a:ln/>
        </p:spPr>
        <p:txBody>
          <a:bodyPr wrap="square" lIns="0" tIns="0" rIns="0" bIns="0" rtlCol="0" anchor="t"/>
          <a:lstStyle/>
          <a:p>
            <a:pPr marL="0" indent="0">
              <a:buNone/>
            </a:pPr>
            <a:r>
              <a:rPr lang="en-US" sz="1400" dirty="0">
                <a:solidFill>
                  <a:schemeClr val="tx1"/>
                </a:solidFill>
              </a:rPr>
              <a:t>Kept the six question types per section and tagged each category.</a:t>
            </a:r>
            <a:endParaRPr lang="en-US" sz="1400" dirty="0"/>
          </a:p>
        </p:txBody>
      </p:sp>
      <p:sp>
        <p:nvSpPr>
          <p:cNvPr id="18" name="Shape 16"/>
          <p:cNvSpPr/>
          <p:nvPr/>
        </p:nvSpPr>
        <p:spPr>
          <a:xfrm>
            <a:off x="4663440" y="3749040"/>
            <a:ext cx="1920240" cy="914400"/>
          </a:xfrm>
          <a:prstGeom prst="roundRect">
            <a:avLst>
              <a:gd name="adj" fmla="val 12000"/>
            </a:avLst>
          </a:prstGeom>
          <a:solidFill>
            <a:schemeClr val="bg2"/>
          </a:solidFill>
          <a:ln/>
        </p:spPr>
      </p:sp>
      <p:sp>
        <p:nvSpPr>
          <p:cNvPr id="19" name="Text 17"/>
          <p:cNvSpPr txBox="1"/>
          <p:nvPr/>
        </p:nvSpPr>
        <p:spPr>
          <a:xfrm>
            <a:off x="4800600" y="3794760"/>
            <a:ext cx="1645920" cy="502920"/>
          </a:xfrm>
          <a:prstGeom prst="rect">
            <a:avLst/>
          </a:prstGeom>
          <a:noFill/>
          <a:ln/>
        </p:spPr>
        <p:txBody>
          <a:bodyPr wrap="square" lIns="0" tIns="0" rIns="0" bIns="0" rtlCol="0" anchor="ctr"/>
          <a:lstStyle/>
          <a:p>
            <a:pPr marL="0" indent="0">
              <a:buNone/>
            </a:pPr>
            <a:r>
              <a:rPr lang="en-US" sz="3000" b="1" dirty="0">
                <a:solidFill>
                  <a:schemeClr val="accent2"/>
                </a:solidFill>
              </a:rPr>
              <a:t>6</a:t>
            </a:r>
            <a:endParaRPr lang="en-US" sz="3000" dirty="0"/>
          </a:p>
        </p:txBody>
      </p:sp>
      <p:sp>
        <p:nvSpPr>
          <p:cNvPr id="20" name="Text 18"/>
          <p:cNvSpPr txBox="1"/>
          <p:nvPr/>
        </p:nvSpPr>
        <p:spPr>
          <a:xfrm>
            <a:off x="4800600" y="4297680"/>
            <a:ext cx="1645920" cy="274320"/>
          </a:xfrm>
          <a:prstGeom prst="rect">
            <a:avLst/>
          </a:prstGeom>
          <a:noFill/>
          <a:ln/>
        </p:spPr>
        <p:txBody>
          <a:bodyPr wrap="square" lIns="0" tIns="0" rIns="0" bIns="0" rtlCol="0" anchor="ctr"/>
          <a:lstStyle/>
          <a:p>
            <a:pPr marL="0" indent="0">
              <a:buNone/>
            </a:pPr>
            <a:r>
              <a:rPr lang="en-US" sz="1200" dirty="0">
                <a:solidFill>
                  <a:schemeClr val="tx1"/>
                </a:solidFill>
              </a:rPr>
              <a:t>types per section</a:t>
            </a:r>
            <a:endParaRPr lang="en-US" sz="1200" dirty="0"/>
          </a:p>
        </p:txBody>
      </p:sp>
      <p:sp>
        <p:nvSpPr>
          <p:cNvPr id="21" name="Text 19"/>
          <p:cNvSpPr/>
          <p:nvPr/>
        </p:nvSpPr>
        <p:spPr>
          <a:xfrm>
            <a:off x="6766560" y="1280160"/>
            <a:ext cx="548640" cy="548640"/>
          </a:xfrm>
          <a:prstGeom prst="ellipse">
            <a:avLst/>
          </a:prstGeom>
          <a:solidFill>
            <a:schemeClr val="accent1"/>
          </a:solid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22" name="Text 20"/>
          <p:cNvSpPr txBox="1"/>
          <p:nvPr/>
        </p:nvSpPr>
        <p:spPr>
          <a:xfrm>
            <a:off x="6766560" y="1965960"/>
            <a:ext cx="1920240" cy="365760"/>
          </a:xfrm>
          <a:prstGeom prst="rect">
            <a:avLst/>
          </a:prstGeom>
          <a:noFill/>
          <a:ln/>
        </p:spPr>
        <p:txBody>
          <a:bodyPr wrap="square" lIns="0" tIns="0" rIns="0" bIns="0" rtlCol="0" anchor="ctr"/>
          <a:lstStyle/>
          <a:p>
            <a:pPr marL="0" indent="0">
              <a:buNone/>
            </a:pPr>
            <a:r>
              <a:rPr lang="en-US" sz="2000" b="1" dirty="0">
                <a:solidFill>
                  <a:schemeClr val="tx2"/>
                </a:solidFill>
              </a:rPr>
              <a:t>Validate</a:t>
            </a:r>
            <a:endParaRPr lang="en-US" sz="2000" dirty="0"/>
          </a:p>
        </p:txBody>
      </p:sp>
      <p:sp>
        <p:nvSpPr>
          <p:cNvPr id="23" name="Text 21"/>
          <p:cNvSpPr txBox="1"/>
          <p:nvPr/>
        </p:nvSpPr>
        <p:spPr>
          <a:xfrm>
            <a:off x="6766560" y="2377440"/>
            <a:ext cx="1920240" cy="1234440"/>
          </a:xfrm>
          <a:prstGeom prst="rect">
            <a:avLst/>
          </a:prstGeom>
          <a:noFill/>
          <a:ln/>
        </p:spPr>
        <p:txBody>
          <a:bodyPr wrap="square" lIns="0" tIns="0" rIns="0" bIns="0" rtlCol="0" anchor="t"/>
          <a:lstStyle/>
          <a:p>
            <a:pPr marL="0" indent="0">
              <a:buNone/>
            </a:pPr>
            <a:r>
              <a:rPr lang="en-US" sz="1400" dirty="0">
                <a:solidFill>
                  <a:schemeClr val="tx1"/>
                </a:solidFill>
              </a:rPr>
              <a:t>Checked duplicates, section citations and the section-number range.</a:t>
            </a:r>
            <a:endParaRPr lang="en-US" sz="1400" dirty="0"/>
          </a:p>
        </p:txBody>
      </p:sp>
      <p:sp>
        <p:nvSpPr>
          <p:cNvPr id="24" name="Shape 22"/>
          <p:cNvSpPr/>
          <p:nvPr/>
        </p:nvSpPr>
        <p:spPr>
          <a:xfrm>
            <a:off x="6766560" y="3749040"/>
            <a:ext cx="1920240" cy="914400"/>
          </a:xfrm>
          <a:prstGeom prst="roundRect">
            <a:avLst>
              <a:gd name="adj" fmla="val 12000"/>
            </a:avLst>
          </a:prstGeom>
          <a:solidFill>
            <a:schemeClr val="bg2"/>
          </a:solidFill>
          <a:ln/>
        </p:spPr>
      </p:sp>
      <p:sp>
        <p:nvSpPr>
          <p:cNvPr id="25" name="Text 23"/>
          <p:cNvSpPr txBox="1"/>
          <p:nvPr/>
        </p:nvSpPr>
        <p:spPr>
          <a:xfrm>
            <a:off x="6903720" y="3794760"/>
            <a:ext cx="1645920" cy="502920"/>
          </a:xfrm>
          <a:prstGeom prst="rect">
            <a:avLst/>
          </a:prstGeom>
          <a:noFill/>
          <a:ln/>
        </p:spPr>
        <p:txBody>
          <a:bodyPr wrap="square" lIns="0" tIns="0" rIns="0" bIns="0" rtlCol="0" anchor="ctr"/>
          <a:lstStyle/>
          <a:p>
            <a:pPr marL="0" indent="0">
              <a:buNone/>
            </a:pPr>
            <a:r>
              <a:rPr lang="en-US" sz="3000" b="1" dirty="0">
                <a:solidFill>
                  <a:schemeClr val="accent2"/>
                </a:solidFill>
              </a:rPr>
              <a:t>0</a:t>
            </a:r>
            <a:endParaRPr lang="en-US" sz="3000" dirty="0"/>
          </a:p>
        </p:txBody>
      </p:sp>
      <p:sp>
        <p:nvSpPr>
          <p:cNvPr id="26" name="Text 24"/>
          <p:cNvSpPr txBox="1"/>
          <p:nvPr/>
        </p:nvSpPr>
        <p:spPr>
          <a:xfrm>
            <a:off x="6903720" y="4297680"/>
            <a:ext cx="1645920" cy="274320"/>
          </a:xfrm>
          <a:prstGeom prst="rect">
            <a:avLst/>
          </a:prstGeom>
          <a:noFill/>
          <a:ln/>
        </p:spPr>
        <p:txBody>
          <a:bodyPr wrap="square" lIns="0" tIns="0" rIns="0" bIns="0" rtlCol="0" anchor="ctr"/>
          <a:lstStyle/>
          <a:p>
            <a:pPr marL="0" indent="0">
              <a:buNone/>
            </a:pPr>
            <a:r>
              <a:rPr lang="en-US" sz="1200" dirty="0">
                <a:solidFill>
                  <a:schemeClr val="tx1"/>
                </a:solidFill>
              </a:rPr>
              <a:t>duplicate descriptions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chemeClr val="tx2"/>
                </a:solidFill>
              </a:rPr>
              <a:t>What we changed</a:t>
            </a:r>
            <a:endParaRPr lang="en-US" sz="3400" dirty="0"/>
          </a:p>
        </p:txBody>
      </p:sp>
      <p:sp>
        <p:nvSpPr>
          <p:cNvPr id="3" name="Shape 1"/>
          <p:cNvSpPr/>
          <p:nvPr/>
        </p:nvSpPr>
        <p:spPr>
          <a:xfrm>
            <a:off x="457200" y="1188720"/>
            <a:ext cx="3566160" cy="2286000"/>
          </a:xfrm>
          <a:prstGeom prst="roundRect">
            <a:avLst>
              <a:gd name="adj" fmla="val 4800"/>
            </a:avLst>
          </a:prstGeom>
          <a:solidFill>
            <a:schemeClr val="bg2"/>
          </a:solidFill>
          <a:ln/>
        </p:spPr>
      </p:sp>
      <p:sp>
        <p:nvSpPr>
          <p:cNvPr id="4" name="Text 2"/>
          <p:cNvSpPr txBox="1"/>
          <p:nvPr/>
        </p:nvSpPr>
        <p:spPr>
          <a:xfrm>
            <a:off x="731520" y="1325880"/>
            <a:ext cx="3017520" cy="365760"/>
          </a:xfrm>
          <a:prstGeom prst="rect">
            <a:avLst/>
          </a:prstGeom>
          <a:noFill/>
          <a:ln/>
        </p:spPr>
        <p:txBody>
          <a:bodyPr wrap="square" lIns="0" tIns="0" rIns="0" bIns="0" rtlCol="0" anchor="ctr"/>
          <a:lstStyle/>
          <a:p>
            <a:pPr marL="0" indent="0">
              <a:buNone/>
            </a:pPr>
            <a:r>
              <a:rPr lang="en-US" sz="2000" b="1" dirty="0">
                <a:solidFill>
                  <a:schemeClr val="tx2"/>
                </a:solidFill>
              </a:rPr>
              <a:t>Source dataset</a:t>
            </a:r>
            <a:endParaRPr lang="en-US" sz="2000" dirty="0"/>
          </a:p>
        </p:txBody>
      </p:sp>
      <p:sp>
        <p:nvSpPr>
          <p:cNvPr id="5" name="Text 3"/>
          <p:cNvSpPr txBox="1"/>
          <p:nvPr/>
        </p:nvSpPr>
        <p:spPr>
          <a:xfrm>
            <a:off x="731520" y="1828800"/>
            <a:ext cx="3017520" cy="14630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Q&amp;A pairs for chatbot fine-tuning</a:t>
            </a:r>
            <a:endParaRPr lang="en-US" sz="1500" dirty="0"/>
          </a:p>
          <a:p>
            <a:pPr marL="342900" indent="-342900">
              <a:spcAft>
                <a:spcPts val="800"/>
              </a:spcAft>
              <a:buSzPct val="100000"/>
              <a:buChar char="•"/>
            </a:pPr>
            <a:r>
              <a:rPr lang="en-US" sz="1500" dirty="0">
                <a:solidFill>
                  <a:schemeClr val="tx1"/>
                </a:solidFill>
              </a:rPr>
              <a:t>6,354 records, six per section</a:t>
            </a:r>
            <a:endParaRPr lang="en-US" sz="1500" dirty="0"/>
          </a:p>
          <a:p>
            <a:pPr marL="342900" indent="-342900">
              <a:spcAft>
                <a:spcPts val="800"/>
              </a:spcAft>
              <a:buSzPct val="100000"/>
              <a:buChar char="•"/>
            </a:pPr>
            <a:r>
              <a:rPr lang="en-US" sz="1500" dirty="0">
                <a:solidFill>
                  <a:schemeClr val="tx1"/>
                </a:solidFill>
              </a:rPr>
              <a:t>Covers BNS, BNSS and BSA</a:t>
            </a:r>
            <a:endParaRPr lang="en-US" sz="1500" dirty="0"/>
          </a:p>
        </p:txBody>
      </p:sp>
      <p:sp>
        <p:nvSpPr>
          <p:cNvPr id="6" name="Text 4"/>
          <p:cNvSpPr/>
          <p:nvPr/>
        </p:nvSpPr>
        <p:spPr>
          <a:xfrm>
            <a:off x="4206240" y="2011680"/>
            <a:ext cx="731520" cy="731520"/>
          </a:xfrm>
          <a:prstGeom prst="ellipse">
            <a:avLst/>
          </a:prstGeom>
          <a:solidFill>
            <a:schemeClr val="accent1"/>
          </a:solidFill>
          <a:ln/>
        </p:spPr>
        <p:txBody>
          <a:bodyPr wrap="square" lIns="0" tIns="0" rIns="0" bIns="0" rtlCol="0" anchor="ctr"/>
          <a:lstStyle/>
          <a:p>
            <a:pPr marL="0" indent="0" algn="ctr">
              <a:buNone/>
            </a:pPr>
            <a:r>
              <a:rPr lang="en-US" sz="2800" b="1" dirty="0">
                <a:solidFill>
                  <a:schemeClr val="tx1"/>
                </a:solidFill>
              </a:rPr>
              <a:t>→</a:t>
            </a:r>
            <a:endParaRPr lang="en-US" sz="2800" dirty="0"/>
          </a:p>
        </p:txBody>
      </p:sp>
      <p:sp>
        <p:nvSpPr>
          <p:cNvPr id="7" name="Shape 5"/>
          <p:cNvSpPr/>
          <p:nvPr/>
        </p:nvSpPr>
        <p:spPr>
          <a:xfrm>
            <a:off x="5120640" y="1188720"/>
            <a:ext cx="3566160" cy="2286000"/>
          </a:xfrm>
          <a:prstGeom prst="roundRect">
            <a:avLst>
              <a:gd name="adj" fmla="val 4800"/>
            </a:avLst>
          </a:prstGeom>
          <a:solidFill>
            <a:schemeClr val="tx2"/>
          </a:solidFill>
          <a:ln/>
        </p:spPr>
      </p:sp>
      <p:sp>
        <p:nvSpPr>
          <p:cNvPr id="8" name="Text 6"/>
          <p:cNvSpPr txBox="1"/>
          <p:nvPr/>
        </p:nvSpPr>
        <p:spPr>
          <a:xfrm>
            <a:off x="5394960" y="1325880"/>
            <a:ext cx="3017520" cy="365760"/>
          </a:xfrm>
          <a:prstGeom prst="rect">
            <a:avLst/>
          </a:prstGeom>
          <a:noFill/>
          <a:ln/>
        </p:spPr>
        <p:txBody>
          <a:bodyPr wrap="square" lIns="0" tIns="0" rIns="0" bIns="0" rtlCol="0" anchor="ctr"/>
          <a:lstStyle/>
          <a:p>
            <a:pPr marL="0" indent="0">
              <a:buNone/>
            </a:pPr>
            <a:r>
              <a:rPr lang="en-US" sz="2000" b="1" dirty="0">
                <a:solidFill>
                  <a:schemeClr val="accent1"/>
                </a:solidFill>
              </a:rPr>
              <a:t>Our dataset</a:t>
            </a:r>
            <a:endParaRPr lang="en-US" sz="2000" dirty="0"/>
          </a:p>
        </p:txBody>
      </p:sp>
      <p:sp>
        <p:nvSpPr>
          <p:cNvPr id="9" name="Text 7"/>
          <p:cNvSpPr txBox="1"/>
          <p:nvPr/>
        </p:nvSpPr>
        <p:spPr>
          <a:xfrm>
            <a:off x="5394960" y="1828800"/>
            <a:ext cx="301752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Flat 11-column table</a:t>
            </a:r>
            <a:endParaRPr lang="en-US" sz="1500" dirty="0"/>
          </a:p>
          <a:p>
            <a:pPr marL="342900" indent="-342900">
              <a:spcAft>
                <a:spcPts val="600"/>
              </a:spcAft>
              <a:buSzPct val="100000"/>
              <a:buChar char="•"/>
            </a:pPr>
            <a:r>
              <a:rPr lang="en-US" sz="1500" dirty="0">
                <a:solidFill>
                  <a:schemeClr val="bg1"/>
                </a:solidFill>
              </a:rPr>
              <a:t>5,000 unique rows</a:t>
            </a:r>
            <a:endParaRPr lang="en-US" sz="1500" dirty="0"/>
          </a:p>
          <a:p>
            <a:pPr marL="342900" indent="-342900">
              <a:spcAft>
                <a:spcPts val="600"/>
              </a:spcAft>
              <a:buSzPct val="100000"/>
              <a:buChar char="•"/>
            </a:pPr>
            <a:r>
              <a:rPr lang="en-US" sz="1500" dirty="0">
                <a:solidFill>
                  <a:schemeClr val="bg1"/>
                </a:solidFill>
              </a:rPr>
              <a:t>BNS + BNSS provisions</a:t>
            </a:r>
            <a:endParaRPr lang="en-US" sz="1500" dirty="0"/>
          </a:p>
          <a:p>
            <a:pPr marL="342900" indent="-342900">
              <a:spcAft>
                <a:spcPts val="600"/>
              </a:spcAft>
              <a:buSzPct val="100000"/>
              <a:buChar char="•"/>
            </a:pPr>
            <a:r>
              <a:rPr lang="en-US" sz="1500" dirty="0">
                <a:solidFill>
                  <a:schemeClr val="bg1"/>
                </a:solidFill>
              </a:rPr>
              <a:t>Six labelled content types</a:t>
            </a:r>
            <a:endParaRPr lang="en-US" sz="1500" dirty="0"/>
          </a:p>
        </p:txBody>
      </p:sp>
      <p:sp>
        <p:nvSpPr>
          <p:cNvPr id="10" name="Text 8"/>
          <p:cNvSpPr txBox="1"/>
          <p:nvPr/>
        </p:nvSpPr>
        <p:spPr>
          <a:xfrm>
            <a:off x="457200" y="3657600"/>
            <a:ext cx="8229600" cy="320040"/>
          </a:xfrm>
          <a:prstGeom prst="rect">
            <a:avLst/>
          </a:prstGeom>
          <a:noFill/>
          <a:ln/>
        </p:spPr>
        <p:txBody>
          <a:bodyPr wrap="square" lIns="0" tIns="0" rIns="0" bIns="0" rtlCol="0" anchor="ctr"/>
          <a:lstStyle/>
          <a:p>
            <a:pPr marL="0" indent="0">
              <a:buNone/>
            </a:pPr>
            <a:r>
              <a:rPr lang="en-US" sz="1800" b="1" dirty="0">
                <a:solidFill>
                  <a:schemeClr val="tx2"/>
                </a:solidFill>
              </a:rPr>
              <a:t>What we added</a:t>
            </a:r>
            <a:endParaRPr lang="en-US" sz="1800" dirty="0"/>
          </a:p>
        </p:txBody>
      </p:sp>
      <p:sp>
        <p:nvSpPr>
          <p:cNvPr id="11" name="Text 9"/>
          <p:cNvSpPr/>
          <p:nvPr/>
        </p:nvSpPr>
        <p:spPr>
          <a:xfrm>
            <a:off x="457200" y="4114800"/>
            <a:ext cx="1920240" cy="502920"/>
          </a:xfrm>
          <a:prstGeom prst="roundRect">
            <a:avLst>
              <a:gd name="adj" fmla="val 18182"/>
            </a:avLst>
          </a:prstGeom>
          <a:solidFill>
            <a:schemeClr val="accent1"/>
          </a:solidFill>
          <a:ln/>
        </p:spPr>
        <p:txBody>
          <a:bodyPr wrap="square" lIns="0" tIns="0" rIns="0" bIns="0" rtlCol="0" anchor="ctr"/>
          <a:lstStyle/>
          <a:p>
            <a:pPr marL="0" indent="0" algn="ctr">
              <a:buNone/>
            </a:pPr>
            <a:r>
              <a:rPr lang="en-US" sz="1400" b="1" dirty="0">
                <a:solidFill>
                  <a:schemeClr val="tx1"/>
                </a:solidFill>
              </a:rPr>
              <a:t>Unique CASE_ID</a:t>
            </a:r>
            <a:endParaRPr lang="en-US" sz="1400" dirty="0"/>
          </a:p>
        </p:txBody>
      </p:sp>
      <p:sp>
        <p:nvSpPr>
          <p:cNvPr id="12" name="Text 10"/>
          <p:cNvSpPr/>
          <p:nvPr/>
        </p:nvSpPr>
        <p:spPr>
          <a:xfrm>
            <a:off x="2560320" y="4114800"/>
            <a:ext cx="1920240" cy="502920"/>
          </a:xfrm>
          <a:prstGeom prst="roundRect">
            <a:avLst>
              <a:gd name="adj" fmla="val 18182"/>
            </a:avLst>
          </a:prstGeom>
          <a:solidFill>
            <a:schemeClr val="accent1"/>
          </a:solidFill>
          <a:ln/>
        </p:spPr>
        <p:txBody>
          <a:bodyPr wrap="square" lIns="0" tIns="0" rIns="0" bIns="0" rtlCol="0" anchor="ctr"/>
          <a:lstStyle/>
          <a:p>
            <a:pPr marL="0" indent="0" algn="ctr">
              <a:buNone/>
            </a:pPr>
            <a:r>
              <a:rPr lang="en-US" sz="1400" b="1" dirty="0">
                <a:solidFill>
                  <a:schemeClr val="tx1"/>
                </a:solidFill>
              </a:rPr>
              <a:t>Source column</a:t>
            </a:r>
            <a:endParaRPr lang="en-US" sz="1400" dirty="0"/>
          </a:p>
        </p:txBody>
      </p:sp>
      <p:sp>
        <p:nvSpPr>
          <p:cNvPr id="13" name="Text 11"/>
          <p:cNvSpPr/>
          <p:nvPr/>
        </p:nvSpPr>
        <p:spPr>
          <a:xfrm>
            <a:off x="4663440" y="4114800"/>
            <a:ext cx="1920240" cy="502920"/>
          </a:xfrm>
          <a:prstGeom prst="roundRect">
            <a:avLst>
              <a:gd name="adj" fmla="val 18182"/>
            </a:avLst>
          </a:prstGeom>
          <a:solidFill>
            <a:schemeClr val="accent1"/>
          </a:solidFill>
          <a:ln/>
        </p:spPr>
        <p:txBody>
          <a:bodyPr wrap="square" lIns="0" tIns="0" rIns="0" bIns="0" rtlCol="0" anchor="ctr"/>
          <a:lstStyle/>
          <a:p>
            <a:pPr marL="0" indent="0" algn="ctr">
              <a:buNone/>
            </a:pPr>
            <a:r>
              <a:rPr lang="en-US" sz="1400" b="1" dirty="0">
                <a:solidFill>
                  <a:schemeClr val="tx1"/>
                </a:solidFill>
              </a:rPr>
              <a:t>Category column</a:t>
            </a:r>
            <a:endParaRPr lang="en-US" sz="1400" dirty="0"/>
          </a:p>
        </p:txBody>
      </p:sp>
      <p:sp>
        <p:nvSpPr>
          <p:cNvPr id="14" name="Text 12"/>
          <p:cNvSpPr/>
          <p:nvPr/>
        </p:nvSpPr>
        <p:spPr>
          <a:xfrm>
            <a:off x="6766560" y="4114800"/>
            <a:ext cx="1920240" cy="502920"/>
          </a:xfrm>
          <a:prstGeom prst="roundRect">
            <a:avLst>
              <a:gd name="adj" fmla="val 18182"/>
            </a:avLst>
          </a:prstGeom>
          <a:solidFill>
            <a:schemeClr val="accent1"/>
          </a:solidFill>
          <a:ln/>
        </p:spPr>
        <p:txBody>
          <a:bodyPr wrap="square" lIns="0" tIns="0" rIns="0" bIns="0" rtlCol="0" anchor="ctr"/>
          <a:lstStyle/>
          <a:p>
            <a:pPr marL="0" indent="0" algn="ctr">
              <a:buNone/>
            </a:pPr>
            <a:r>
              <a:rPr lang="en-US" sz="1400" b="1" dirty="0">
                <a:solidFill>
                  <a:schemeClr val="tx1"/>
                </a:solidFill>
              </a:rPr>
              <a:t>Section citation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chemeClr val="tx2"/>
                </a:solidFill>
              </a:rPr>
              <a:t>Dataset columns</a:t>
            </a:r>
            <a:endParaRPr lang="en-US" sz="3400" dirty="0"/>
          </a:p>
        </p:txBody>
      </p:sp>
      <p:sp>
        <p:nvSpPr>
          <p:cNvPr id="3" name="Shape 1"/>
          <p:cNvSpPr/>
          <p:nvPr/>
        </p:nvSpPr>
        <p:spPr>
          <a:xfrm>
            <a:off x="457200" y="1188720"/>
            <a:ext cx="1920240" cy="1005840"/>
          </a:xfrm>
          <a:prstGeom prst="roundRect">
            <a:avLst>
              <a:gd name="adj" fmla="val 10909"/>
            </a:avLst>
          </a:prstGeom>
          <a:solidFill>
            <a:schemeClr val="bg2"/>
          </a:solidFill>
          <a:ln/>
        </p:spPr>
      </p:sp>
      <p:sp>
        <p:nvSpPr>
          <p:cNvPr id="4" name="Text 2"/>
          <p:cNvSpPr txBox="1"/>
          <p:nvPr/>
        </p:nvSpPr>
        <p:spPr>
          <a:xfrm>
            <a:off x="594360" y="1325880"/>
            <a:ext cx="1645920" cy="365760"/>
          </a:xfrm>
          <a:prstGeom prst="rect">
            <a:avLst/>
          </a:prstGeom>
          <a:noFill/>
          <a:ln/>
        </p:spPr>
        <p:txBody>
          <a:bodyPr wrap="square" lIns="0" tIns="0" rIns="0" bIns="0" rtlCol="0" anchor="ctr"/>
          <a:lstStyle/>
          <a:p>
            <a:pPr marL="0" indent="0">
              <a:buNone/>
            </a:pPr>
            <a:r>
              <a:rPr lang="en-US" sz="1500" b="1" dirty="0">
                <a:solidFill>
                  <a:schemeClr val="tx2"/>
                </a:solidFill>
              </a:rPr>
              <a:t>case_ID</a:t>
            </a:r>
            <a:endParaRPr lang="en-US" sz="1500" dirty="0"/>
          </a:p>
        </p:txBody>
      </p:sp>
      <p:sp>
        <p:nvSpPr>
          <p:cNvPr id="5" name="Text 3"/>
          <p:cNvSpPr txBox="1"/>
          <p:nvPr/>
        </p:nvSpPr>
        <p:spPr>
          <a:xfrm>
            <a:off x="594360" y="1737360"/>
            <a:ext cx="1645920" cy="320040"/>
          </a:xfrm>
          <a:prstGeom prst="rect">
            <a:avLst/>
          </a:prstGeom>
          <a:noFill/>
          <a:ln/>
        </p:spPr>
        <p:txBody>
          <a:bodyPr wrap="square" lIns="0" tIns="0" rIns="0" bIns="0" rtlCol="0" anchor="t"/>
          <a:lstStyle/>
          <a:p>
            <a:pPr marL="0" indent="0">
              <a:buNone/>
            </a:pPr>
            <a:r>
              <a:rPr lang="en-US" sz="1200" dirty="0">
                <a:solidFill>
                  <a:schemeClr val="tx1"/>
                </a:solidFill>
              </a:rPr>
              <a:t>Unique ID (CASE_0001…)</a:t>
            </a:r>
            <a:endParaRPr lang="en-US" sz="1200" dirty="0"/>
          </a:p>
        </p:txBody>
      </p:sp>
      <p:sp>
        <p:nvSpPr>
          <p:cNvPr id="6" name="Shape 4"/>
          <p:cNvSpPr/>
          <p:nvPr/>
        </p:nvSpPr>
        <p:spPr>
          <a:xfrm>
            <a:off x="2560320" y="1188720"/>
            <a:ext cx="1920240" cy="1005840"/>
          </a:xfrm>
          <a:prstGeom prst="roundRect">
            <a:avLst>
              <a:gd name="adj" fmla="val 10909"/>
            </a:avLst>
          </a:prstGeom>
          <a:solidFill>
            <a:schemeClr val="bg2"/>
          </a:solidFill>
          <a:ln/>
        </p:spPr>
      </p:sp>
      <p:sp>
        <p:nvSpPr>
          <p:cNvPr id="7" name="Text 5"/>
          <p:cNvSpPr txBox="1"/>
          <p:nvPr/>
        </p:nvSpPr>
        <p:spPr>
          <a:xfrm>
            <a:off x="2697480" y="1325880"/>
            <a:ext cx="1645920" cy="365760"/>
          </a:xfrm>
          <a:prstGeom prst="rect">
            <a:avLst/>
          </a:prstGeom>
          <a:noFill/>
          <a:ln/>
        </p:spPr>
        <p:txBody>
          <a:bodyPr wrap="square" lIns="0" tIns="0" rIns="0" bIns="0" rtlCol="0" anchor="ctr"/>
          <a:lstStyle/>
          <a:p>
            <a:pPr marL="0" indent="0">
              <a:buNone/>
            </a:pPr>
            <a:r>
              <a:rPr lang="en-US" sz="1500" b="1" dirty="0">
                <a:solidFill>
                  <a:schemeClr val="tx2"/>
                </a:solidFill>
              </a:rPr>
              <a:t>Law_name</a:t>
            </a:r>
            <a:endParaRPr lang="en-US" sz="1500" dirty="0"/>
          </a:p>
        </p:txBody>
      </p:sp>
      <p:sp>
        <p:nvSpPr>
          <p:cNvPr id="8" name="Text 6"/>
          <p:cNvSpPr txBox="1"/>
          <p:nvPr/>
        </p:nvSpPr>
        <p:spPr>
          <a:xfrm>
            <a:off x="2697480" y="1737360"/>
            <a:ext cx="1645920" cy="320040"/>
          </a:xfrm>
          <a:prstGeom prst="rect">
            <a:avLst/>
          </a:prstGeom>
          <a:noFill/>
          <a:ln/>
        </p:spPr>
        <p:txBody>
          <a:bodyPr wrap="square" lIns="0" tIns="0" rIns="0" bIns="0" rtlCol="0" anchor="t"/>
          <a:lstStyle/>
          <a:p>
            <a:pPr marL="0" indent="0">
              <a:buNone/>
            </a:pPr>
            <a:r>
              <a:rPr lang="en-US" sz="1200" dirty="0">
                <a:solidFill>
                  <a:schemeClr val="tx1"/>
                </a:solidFill>
              </a:rPr>
              <a:t>Parent law</a:t>
            </a:r>
            <a:endParaRPr lang="en-US" sz="1200" dirty="0"/>
          </a:p>
        </p:txBody>
      </p:sp>
      <p:sp>
        <p:nvSpPr>
          <p:cNvPr id="9" name="Shape 7"/>
          <p:cNvSpPr/>
          <p:nvPr/>
        </p:nvSpPr>
        <p:spPr>
          <a:xfrm>
            <a:off x="4663440" y="1188720"/>
            <a:ext cx="1920240" cy="1005840"/>
          </a:xfrm>
          <a:prstGeom prst="roundRect">
            <a:avLst>
              <a:gd name="adj" fmla="val 10909"/>
            </a:avLst>
          </a:prstGeom>
          <a:solidFill>
            <a:schemeClr val="bg2"/>
          </a:solidFill>
          <a:ln/>
        </p:spPr>
      </p:sp>
      <p:sp>
        <p:nvSpPr>
          <p:cNvPr id="10" name="Text 8"/>
          <p:cNvSpPr txBox="1"/>
          <p:nvPr/>
        </p:nvSpPr>
        <p:spPr>
          <a:xfrm>
            <a:off x="4800600" y="1325880"/>
            <a:ext cx="1645920" cy="365760"/>
          </a:xfrm>
          <a:prstGeom prst="rect">
            <a:avLst/>
          </a:prstGeom>
          <a:noFill/>
          <a:ln/>
        </p:spPr>
        <p:txBody>
          <a:bodyPr wrap="square" lIns="0" tIns="0" rIns="0" bIns="0" rtlCol="0" anchor="ctr"/>
          <a:lstStyle/>
          <a:p>
            <a:pPr marL="0" indent="0">
              <a:buNone/>
            </a:pPr>
            <a:r>
              <a:rPr lang="en-US" sz="1500" b="1" dirty="0">
                <a:solidFill>
                  <a:schemeClr val="tx2"/>
                </a:solidFill>
              </a:rPr>
              <a:t>Offence_name</a:t>
            </a:r>
            <a:endParaRPr lang="en-US" sz="1500" dirty="0"/>
          </a:p>
        </p:txBody>
      </p:sp>
      <p:sp>
        <p:nvSpPr>
          <p:cNvPr id="11" name="Text 9"/>
          <p:cNvSpPr txBox="1"/>
          <p:nvPr/>
        </p:nvSpPr>
        <p:spPr>
          <a:xfrm>
            <a:off x="4800600" y="1737360"/>
            <a:ext cx="1645920" cy="320040"/>
          </a:xfrm>
          <a:prstGeom prst="rect">
            <a:avLst/>
          </a:prstGeom>
          <a:noFill/>
          <a:ln/>
        </p:spPr>
        <p:txBody>
          <a:bodyPr wrap="square" lIns="0" tIns="0" rIns="0" bIns="0" rtlCol="0" anchor="t"/>
          <a:lstStyle/>
          <a:p>
            <a:pPr marL="0" indent="0">
              <a:buNone/>
            </a:pPr>
            <a:r>
              <a:rPr lang="en-US" sz="1200" dirty="0">
                <a:solidFill>
                  <a:schemeClr val="tx1"/>
                </a:solidFill>
              </a:rPr>
              <a:t>Section title</a:t>
            </a:r>
            <a:endParaRPr lang="en-US" sz="1200" dirty="0"/>
          </a:p>
        </p:txBody>
      </p:sp>
      <p:sp>
        <p:nvSpPr>
          <p:cNvPr id="12" name="Shape 10"/>
          <p:cNvSpPr/>
          <p:nvPr/>
        </p:nvSpPr>
        <p:spPr>
          <a:xfrm>
            <a:off x="6766560" y="1188720"/>
            <a:ext cx="1920240" cy="1005840"/>
          </a:xfrm>
          <a:prstGeom prst="roundRect">
            <a:avLst>
              <a:gd name="adj" fmla="val 10909"/>
            </a:avLst>
          </a:prstGeom>
          <a:solidFill>
            <a:schemeClr val="bg2"/>
          </a:solidFill>
          <a:ln/>
        </p:spPr>
      </p:sp>
      <p:sp>
        <p:nvSpPr>
          <p:cNvPr id="13" name="Text 11"/>
          <p:cNvSpPr txBox="1"/>
          <p:nvPr/>
        </p:nvSpPr>
        <p:spPr>
          <a:xfrm>
            <a:off x="6903720" y="1325880"/>
            <a:ext cx="1645920" cy="365760"/>
          </a:xfrm>
          <a:prstGeom prst="rect">
            <a:avLst/>
          </a:prstGeom>
          <a:noFill/>
          <a:ln/>
        </p:spPr>
        <p:txBody>
          <a:bodyPr wrap="square" lIns="0" tIns="0" rIns="0" bIns="0" rtlCol="0" anchor="ctr"/>
          <a:lstStyle/>
          <a:p>
            <a:pPr marL="0" indent="0">
              <a:buNone/>
            </a:pPr>
            <a:r>
              <a:rPr lang="en-US" sz="1500" b="1" dirty="0">
                <a:solidFill>
                  <a:schemeClr val="tx2"/>
                </a:solidFill>
              </a:rPr>
              <a:t>Case_Description</a:t>
            </a:r>
            <a:endParaRPr lang="en-US" sz="1500" dirty="0"/>
          </a:p>
        </p:txBody>
      </p:sp>
      <p:sp>
        <p:nvSpPr>
          <p:cNvPr id="14" name="Text 12"/>
          <p:cNvSpPr txBox="1"/>
          <p:nvPr/>
        </p:nvSpPr>
        <p:spPr>
          <a:xfrm>
            <a:off x="6903720" y="1737360"/>
            <a:ext cx="1645920" cy="320040"/>
          </a:xfrm>
          <a:prstGeom prst="rect">
            <a:avLst/>
          </a:prstGeom>
          <a:noFill/>
          <a:ln/>
        </p:spPr>
        <p:txBody>
          <a:bodyPr wrap="square" lIns="0" tIns="0" rIns="0" bIns="0" rtlCol="0" anchor="t"/>
          <a:lstStyle/>
          <a:p>
            <a:pPr marL="0" indent="0">
              <a:buNone/>
            </a:pPr>
            <a:r>
              <a:rPr lang="en-US" sz="1200" dirty="0">
                <a:solidFill>
                  <a:schemeClr val="tx1"/>
                </a:solidFill>
              </a:rPr>
              <a:t>Text for NLP</a:t>
            </a:r>
            <a:endParaRPr lang="en-US" sz="1200" dirty="0"/>
          </a:p>
        </p:txBody>
      </p:sp>
      <p:sp>
        <p:nvSpPr>
          <p:cNvPr id="15" name="Shape 13"/>
          <p:cNvSpPr/>
          <p:nvPr/>
        </p:nvSpPr>
        <p:spPr>
          <a:xfrm>
            <a:off x="457200" y="2377440"/>
            <a:ext cx="1920240" cy="1005840"/>
          </a:xfrm>
          <a:prstGeom prst="roundRect">
            <a:avLst>
              <a:gd name="adj" fmla="val 10909"/>
            </a:avLst>
          </a:prstGeom>
          <a:solidFill>
            <a:schemeClr val="bg2"/>
          </a:solidFill>
          <a:ln/>
        </p:spPr>
      </p:sp>
      <p:sp>
        <p:nvSpPr>
          <p:cNvPr id="16" name="Text 14"/>
          <p:cNvSpPr txBox="1"/>
          <p:nvPr/>
        </p:nvSpPr>
        <p:spPr>
          <a:xfrm>
            <a:off x="594360" y="2514600"/>
            <a:ext cx="1645920" cy="365760"/>
          </a:xfrm>
          <a:prstGeom prst="rect">
            <a:avLst/>
          </a:prstGeom>
          <a:noFill/>
          <a:ln/>
        </p:spPr>
        <p:txBody>
          <a:bodyPr wrap="square" lIns="0" tIns="0" rIns="0" bIns="0" rtlCol="0" anchor="ctr"/>
          <a:lstStyle/>
          <a:p>
            <a:pPr marL="0" indent="0">
              <a:buNone/>
            </a:pPr>
            <a:r>
              <a:rPr lang="en-US" sz="1500" b="1" dirty="0">
                <a:solidFill>
                  <a:schemeClr val="tx2"/>
                </a:solidFill>
              </a:rPr>
              <a:t>BNS_section</a:t>
            </a:r>
            <a:endParaRPr lang="en-US" sz="1500" dirty="0"/>
          </a:p>
        </p:txBody>
      </p:sp>
      <p:sp>
        <p:nvSpPr>
          <p:cNvPr id="17" name="Text 15"/>
          <p:cNvSpPr txBox="1"/>
          <p:nvPr/>
        </p:nvSpPr>
        <p:spPr>
          <a:xfrm>
            <a:off x="594360" y="2926080"/>
            <a:ext cx="1645920" cy="320040"/>
          </a:xfrm>
          <a:prstGeom prst="rect">
            <a:avLst/>
          </a:prstGeom>
          <a:noFill/>
          <a:ln/>
        </p:spPr>
        <p:txBody>
          <a:bodyPr wrap="square" lIns="0" tIns="0" rIns="0" bIns="0" rtlCol="0" anchor="t"/>
          <a:lstStyle/>
          <a:p>
            <a:pPr marL="0" indent="0">
              <a:buNone/>
            </a:pPr>
            <a:r>
              <a:rPr lang="en-US" sz="1200" dirty="0">
                <a:solidFill>
                  <a:schemeClr val="tx1"/>
                </a:solidFill>
              </a:rPr>
              <a:t>Section number</a:t>
            </a:r>
            <a:endParaRPr lang="en-US" sz="1200" dirty="0"/>
          </a:p>
        </p:txBody>
      </p:sp>
      <p:sp>
        <p:nvSpPr>
          <p:cNvPr id="18" name="Shape 16"/>
          <p:cNvSpPr/>
          <p:nvPr/>
        </p:nvSpPr>
        <p:spPr>
          <a:xfrm>
            <a:off x="2560320" y="2377440"/>
            <a:ext cx="1920240" cy="1005840"/>
          </a:xfrm>
          <a:prstGeom prst="roundRect">
            <a:avLst>
              <a:gd name="adj" fmla="val 10909"/>
            </a:avLst>
          </a:prstGeom>
          <a:solidFill>
            <a:schemeClr val="bg2"/>
          </a:solidFill>
          <a:ln/>
        </p:spPr>
      </p:sp>
      <p:sp>
        <p:nvSpPr>
          <p:cNvPr id="19" name="Text 17"/>
          <p:cNvSpPr txBox="1"/>
          <p:nvPr/>
        </p:nvSpPr>
        <p:spPr>
          <a:xfrm>
            <a:off x="2697480" y="2514600"/>
            <a:ext cx="1645920" cy="365760"/>
          </a:xfrm>
          <a:prstGeom prst="rect">
            <a:avLst/>
          </a:prstGeom>
          <a:noFill/>
          <a:ln/>
        </p:spPr>
        <p:txBody>
          <a:bodyPr wrap="square" lIns="0" tIns="0" rIns="0" bIns="0" rtlCol="0" anchor="ctr"/>
          <a:lstStyle/>
          <a:p>
            <a:pPr marL="0" indent="0">
              <a:buNone/>
            </a:pPr>
            <a:r>
              <a:rPr lang="en-US" sz="1500" b="1" dirty="0">
                <a:solidFill>
                  <a:schemeClr val="tx2"/>
                </a:solidFill>
              </a:rPr>
              <a:t>Category</a:t>
            </a:r>
            <a:endParaRPr lang="en-US" sz="1500" dirty="0"/>
          </a:p>
        </p:txBody>
      </p:sp>
      <p:sp>
        <p:nvSpPr>
          <p:cNvPr id="20" name="Text 18"/>
          <p:cNvSpPr txBox="1"/>
          <p:nvPr/>
        </p:nvSpPr>
        <p:spPr>
          <a:xfrm>
            <a:off x="2697480" y="2926080"/>
            <a:ext cx="1645920" cy="320040"/>
          </a:xfrm>
          <a:prstGeom prst="rect">
            <a:avLst/>
          </a:prstGeom>
          <a:noFill/>
          <a:ln/>
        </p:spPr>
        <p:txBody>
          <a:bodyPr wrap="square" lIns="0" tIns="0" rIns="0" bIns="0" rtlCol="0" anchor="t"/>
          <a:lstStyle/>
          <a:p>
            <a:pPr marL="0" indent="0">
              <a:buNone/>
            </a:pPr>
            <a:r>
              <a:rPr lang="en-US" sz="1200" dirty="0">
                <a:solidFill>
                  <a:schemeClr val="tx1"/>
                </a:solidFill>
              </a:rPr>
              <a:t>Content type label</a:t>
            </a:r>
            <a:endParaRPr lang="en-US" sz="1200" dirty="0"/>
          </a:p>
        </p:txBody>
      </p:sp>
      <p:sp>
        <p:nvSpPr>
          <p:cNvPr id="21" name="Shape 19"/>
          <p:cNvSpPr/>
          <p:nvPr/>
        </p:nvSpPr>
        <p:spPr>
          <a:xfrm>
            <a:off x="4663440" y="2377440"/>
            <a:ext cx="1920240" cy="1005840"/>
          </a:xfrm>
          <a:prstGeom prst="roundRect">
            <a:avLst>
              <a:gd name="adj" fmla="val 10909"/>
            </a:avLst>
          </a:prstGeom>
          <a:solidFill>
            <a:schemeClr val="bg2"/>
          </a:solidFill>
          <a:ln/>
        </p:spPr>
      </p:sp>
      <p:sp>
        <p:nvSpPr>
          <p:cNvPr id="22" name="Text 20"/>
          <p:cNvSpPr txBox="1"/>
          <p:nvPr/>
        </p:nvSpPr>
        <p:spPr>
          <a:xfrm>
            <a:off x="4800600" y="2514600"/>
            <a:ext cx="1645920" cy="365760"/>
          </a:xfrm>
          <a:prstGeom prst="rect">
            <a:avLst/>
          </a:prstGeom>
          <a:noFill/>
          <a:ln/>
        </p:spPr>
        <p:txBody>
          <a:bodyPr wrap="square" lIns="0" tIns="0" rIns="0" bIns="0" rtlCol="0" anchor="ctr"/>
          <a:lstStyle/>
          <a:p>
            <a:pPr marL="0" indent="0">
              <a:buNone/>
            </a:pPr>
            <a:r>
              <a:rPr lang="en-US" sz="1500" b="1" dirty="0">
                <a:solidFill>
                  <a:schemeClr val="tx2"/>
                </a:solidFill>
              </a:rPr>
              <a:t>Source</a:t>
            </a:r>
            <a:endParaRPr lang="en-US" sz="1500" dirty="0"/>
          </a:p>
        </p:txBody>
      </p:sp>
      <p:sp>
        <p:nvSpPr>
          <p:cNvPr id="23" name="Text 21"/>
          <p:cNvSpPr txBox="1"/>
          <p:nvPr/>
        </p:nvSpPr>
        <p:spPr>
          <a:xfrm>
            <a:off x="4800600" y="2926080"/>
            <a:ext cx="1645920" cy="320040"/>
          </a:xfrm>
          <a:prstGeom prst="rect">
            <a:avLst/>
          </a:prstGeom>
          <a:noFill/>
          <a:ln/>
        </p:spPr>
        <p:txBody>
          <a:bodyPr wrap="square" lIns="0" tIns="0" rIns="0" bIns="0" rtlCol="0" anchor="t"/>
          <a:lstStyle/>
          <a:p>
            <a:pPr marL="0" indent="0">
              <a:buNone/>
            </a:pPr>
            <a:r>
              <a:rPr lang="en-US" sz="1200" dirty="0">
                <a:solidFill>
                  <a:schemeClr val="tx1"/>
                </a:solidFill>
              </a:rPr>
              <a:t>Origin record</a:t>
            </a:r>
            <a:endParaRPr lang="en-US" sz="1200" dirty="0"/>
          </a:p>
        </p:txBody>
      </p:sp>
      <p:sp>
        <p:nvSpPr>
          <p:cNvPr id="24" name="Shape 22"/>
          <p:cNvSpPr/>
          <p:nvPr/>
        </p:nvSpPr>
        <p:spPr>
          <a:xfrm>
            <a:off x="6766560" y="2377440"/>
            <a:ext cx="1920240" cy="1005840"/>
          </a:xfrm>
          <a:prstGeom prst="roundRect">
            <a:avLst>
              <a:gd name="adj" fmla="val 10909"/>
            </a:avLst>
          </a:prstGeom>
          <a:solidFill>
            <a:schemeClr val="accent1"/>
          </a:solidFill>
          <a:ln/>
        </p:spPr>
      </p:sp>
      <p:sp>
        <p:nvSpPr>
          <p:cNvPr id="25" name="Text 23"/>
          <p:cNvSpPr txBox="1"/>
          <p:nvPr/>
        </p:nvSpPr>
        <p:spPr>
          <a:xfrm>
            <a:off x="6903720" y="2514600"/>
            <a:ext cx="1645920" cy="365760"/>
          </a:xfrm>
          <a:prstGeom prst="rect">
            <a:avLst/>
          </a:prstGeom>
          <a:noFill/>
          <a:ln/>
        </p:spPr>
        <p:txBody>
          <a:bodyPr wrap="square" lIns="0" tIns="0" rIns="0" bIns="0" rtlCol="0" anchor="ctr"/>
          <a:lstStyle/>
          <a:p>
            <a:pPr marL="0" indent="0">
              <a:buNone/>
            </a:pPr>
            <a:r>
              <a:rPr lang="en-US" sz="1500" b="1" dirty="0">
                <a:solidFill>
                  <a:schemeClr val="tx2"/>
                </a:solidFill>
              </a:rPr>
              <a:t>Punishment</a:t>
            </a:r>
            <a:endParaRPr lang="en-US" sz="1500" dirty="0"/>
          </a:p>
        </p:txBody>
      </p:sp>
      <p:sp>
        <p:nvSpPr>
          <p:cNvPr id="26" name="Text 24"/>
          <p:cNvSpPr txBox="1"/>
          <p:nvPr/>
        </p:nvSpPr>
        <p:spPr>
          <a:xfrm>
            <a:off x="6903720" y="2926080"/>
            <a:ext cx="1645920" cy="320040"/>
          </a:xfrm>
          <a:prstGeom prst="rect">
            <a:avLst/>
          </a:prstGeom>
          <a:noFill/>
          <a:ln/>
        </p:spPr>
        <p:txBody>
          <a:bodyPr wrap="square" lIns="0" tIns="0" rIns="0" bIns="0" rtlCol="0" anchor="t"/>
          <a:lstStyle/>
          <a:p>
            <a:pPr marL="0" indent="0">
              <a:buNone/>
            </a:pPr>
            <a:r>
              <a:rPr lang="en-US" sz="1200" dirty="0">
                <a:solidFill>
                  <a:schemeClr val="tx1"/>
                </a:solidFill>
              </a:rPr>
              <a:t>Penalty </a:t>
            </a:r>
            <a:endParaRPr lang="en-US" sz="1200" dirty="0"/>
          </a:p>
        </p:txBody>
      </p:sp>
      <p:sp>
        <p:nvSpPr>
          <p:cNvPr id="27" name="Shape 25"/>
          <p:cNvSpPr/>
          <p:nvPr/>
        </p:nvSpPr>
        <p:spPr>
          <a:xfrm>
            <a:off x="457200" y="3566160"/>
            <a:ext cx="1920240" cy="1005840"/>
          </a:xfrm>
          <a:prstGeom prst="roundRect">
            <a:avLst>
              <a:gd name="adj" fmla="val 10909"/>
            </a:avLst>
          </a:prstGeom>
          <a:solidFill>
            <a:schemeClr val="accent1"/>
          </a:solidFill>
          <a:ln/>
        </p:spPr>
      </p:sp>
      <p:sp>
        <p:nvSpPr>
          <p:cNvPr id="28" name="Text 26"/>
          <p:cNvSpPr txBox="1"/>
          <p:nvPr/>
        </p:nvSpPr>
        <p:spPr>
          <a:xfrm>
            <a:off x="594360" y="3703320"/>
            <a:ext cx="1645920" cy="365760"/>
          </a:xfrm>
          <a:prstGeom prst="rect">
            <a:avLst/>
          </a:prstGeom>
          <a:noFill/>
          <a:ln/>
        </p:spPr>
        <p:txBody>
          <a:bodyPr wrap="square" lIns="0" tIns="0" rIns="0" bIns="0" rtlCol="0" anchor="ctr"/>
          <a:lstStyle/>
          <a:p>
            <a:pPr marL="0" indent="0">
              <a:buNone/>
            </a:pPr>
            <a:r>
              <a:rPr lang="en-US" sz="1500" b="1" dirty="0">
                <a:solidFill>
                  <a:schemeClr val="tx2"/>
                </a:solidFill>
              </a:rPr>
              <a:t>Cognizable</a:t>
            </a:r>
            <a:endParaRPr lang="en-US" sz="1500" dirty="0"/>
          </a:p>
        </p:txBody>
      </p:sp>
      <p:sp>
        <p:nvSpPr>
          <p:cNvPr id="29" name="Text 27"/>
          <p:cNvSpPr txBox="1"/>
          <p:nvPr/>
        </p:nvSpPr>
        <p:spPr>
          <a:xfrm>
            <a:off x="594360" y="4114800"/>
            <a:ext cx="1645920" cy="320040"/>
          </a:xfrm>
          <a:prstGeom prst="rect">
            <a:avLst/>
          </a:prstGeom>
          <a:noFill/>
          <a:ln/>
        </p:spPr>
        <p:txBody>
          <a:bodyPr wrap="square" lIns="0" tIns="0" rIns="0" bIns="0" rtlCol="0" anchor="t"/>
          <a:lstStyle/>
          <a:p>
            <a:pPr marL="0" indent="0">
              <a:buNone/>
            </a:pPr>
            <a:r>
              <a:rPr lang="en-US" sz="1200" dirty="0">
                <a:solidFill>
                  <a:schemeClr val="tx1"/>
                </a:solidFill>
              </a:rPr>
              <a:t>Yes/No flag </a:t>
            </a:r>
            <a:endParaRPr lang="en-US" sz="1200" dirty="0"/>
          </a:p>
        </p:txBody>
      </p:sp>
      <p:sp>
        <p:nvSpPr>
          <p:cNvPr id="30" name="Shape 28"/>
          <p:cNvSpPr/>
          <p:nvPr/>
        </p:nvSpPr>
        <p:spPr>
          <a:xfrm>
            <a:off x="2560320" y="3566160"/>
            <a:ext cx="1920240" cy="1005840"/>
          </a:xfrm>
          <a:prstGeom prst="roundRect">
            <a:avLst>
              <a:gd name="adj" fmla="val 10909"/>
            </a:avLst>
          </a:prstGeom>
          <a:solidFill>
            <a:schemeClr val="accent1"/>
          </a:solidFill>
          <a:ln/>
        </p:spPr>
      </p:sp>
      <p:sp>
        <p:nvSpPr>
          <p:cNvPr id="31" name="Text 29"/>
          <p:cNvSpPr txBox="1"/>
          <p:nvPr/>
        </p:nvSpPr>
        <p:spPr>
          <a:xfrm>
            <a:off x="2697480" y="3703320"/>
            <a:ext cx="1645920" cy="365760"/>
          </a:xfrm>
          <a:prstGeom prst="rect">
            <a:avLst/>
          </a:prstGeom>
          <a:noFill/>
          <a:ln/>
        </p:spPr>
        <p:txBody>
          <a:bodyPr wrap="square" lIns="0" tIns="0" rIns="0" bIns="0" rtlCol="0" anchor="ctr"/>
          <a:lstStyle/>
          <a:p>
            <a:pPr marL="0" indent="0">
              <a:buNone/>
            </a:pPr>
            <a:r>
              <a:rPr lang="en-US" sz="1500" b="1" dirty="0">
                <a:solidFill>
                  <a:schemeClr val="tx2"/>
                </a:solidFill>
              </a:rPr>
              <a:t>Bailable</a:t>
            </a:r>
            <a:endParaRPr lang="en-US" sz="1500" dirty="0"/>
          </a:p>
        </p:txBody>
      </p:sp>
      <p:sp>
        <p:nvSpPr>
          <p:cNvPr id="32" name="Text 30"/>
          <p:cNvSpPr txBox="1"/>
          <p:nvPr/>
        </p:nvSpPr>
        <p:spPr>
          <a:xfrm>
            <a:off x="2697480" y="4114800"/>
            <a:ext cx="1645920" cy="320040"/>
          </a:xfrm>
          <a:prstGeom prst="rect">
            <a:avLst/>
          </a:prstGeom>
          <a:noFill/>
          <a:ln/>
        </p:spPr>
        <p:txBody>
          <a:bodyPr wrap="square" lIns="0" tIns="0" rIns="0" bIns="0" rtlCol="0" anchor="t"/>
          <a:lstStyle/>
          <a:p>
            <a:pPr marL="0" indent="0">
              <a:buNone/>
            </a:pPr>
            <a:r>
              <a:rPr lang="en-US" sz="1200" dirty="0">
                <a:solidFill>
                  <a:schemeClr val="tx1"/>
                </a:solidFill>
              </a:rPr>
              <a:t>Yes/No flag </a:t>
            </a:r>
            <a:endParaRPr lang="en-US" sz="1200" dirty="0"/>
          </a:p>
        </p:txBody>
      </p:sp>
      <p:sp>
        <p:nvSpPr>
          <p:cNvPr id="33" name="Shape 31"/>
          <p:cNvSpPr/>
          <p:nvPr/>
        </p:nvSpPr>
        <p:spPr>
          <a:xfrm>
            <a:off x="4663440" y="3566160"/>
            <a:ext cx="1920240" cy="1005840"/>
          </a:xfrm>
          <a:prstGeom prst="roundRect">
            <a:avLst>
              <a:gd name="adj" fmla="val 10909"/>
            </a:avLst>
          </a:prstGeom>
          <a:solidFill>
            <a:schemeClr val="accent1"/>
          </a:solidFill>
          <a:ln/>
        </p:spPr>
      </p:sp>
      <p:sp>
        <p:nvSpPr>
          <p:cNvPr id="34" name="Text 32"/>
          <p:cNvSpPr txBox="1"/>
          <p:nvPr/>
        </p:nvSpPr>
        <p:spPr>
          <a:xfrm>
            <a:off x="4800600" y="3703320"/>
            <a:ext cx="1645920" cy="365760"/>
          </a:xfrm>
          <a:prstGeom prst="rect">
            <a:avLst/>
          </a:prstGeom>
          <a:noFill/>
          <a:ln/>
        </p:spPr>
        <p:txBody>
          <a:bodyPr wrap="square" lIns="0" tIns="0" rIns="0" bIns="0" rtlCol="0" anchor="ctr"/>
          <a:lstStyle/>
          <a:p>
            <a:pPr marL="0" indent="0">
              <a:buNone/>
            </a:pPr>
            <a:r>
              <a:rPr lang="en-US" sz="1500" b="1" dirty="0">
                <a:solidFill>
                  <a:schemeClr val="tx2"/>
                </a:solidFill>
              </a:rPr>
              <a:t>Compoundable</a:t>
            </a:r>
            <a:endParaRPr lang="en-US" sz="1500" dirty="0"/>
          </a:p>
        </p:txBody>
      </p:sp>
      <p:sp>
        <p:nvSpPr>
          <p:cNvPr id="35" name="Text 33"/>
          <p:cNvSpPr txBox="1"/>
          <p:nvPr/>
        </p:nvSpPr>
        <p:spPr>
          <a:xfrm>
            <a:off x="4800600" y="4114800"/>
            <a:ext cx="1645920" cy="320040"/>
          </a:xfrm>
          <a:prstGeom prst="rect">
            <a:avLst/>
          </a:prstGeom>
          <a:noFill/>
          <a:ln/>
        </p:spPr>
        <p:txBody>
          <a:bodyPr wrap="square" lIns="0" tIns="0" rIns="0" bIns="0" rtlCol="0" anchor="t"/>
          <a:lstStyle/>
          <a:p>
            <a:pPr marL="0" indent="0">
              <a:buNone/>
            </a:pPr>
            <a:r>
              <a:rPr lang="en-US" sz="1200" dirty="0">
                <a:solidFill>
                  <a:schemeClr val="tx1"/>
                </a:solidFill>
              </a:rPr>
              <a:t>Yes/No flag </a:t>
            </a:r>
            <a:endParaRPr lang="en-US" sz="1200" dirty="0"/>
          </a:p>
        </p:txBody>
      </p:sp>
      <p:sp>
        <p:nvSpPr>
          <p:cNvPr id="36" name="Text 34"/>
          <p:cNvSpPr txBox="1"/>
          <p:nvPr/>
        </p:nvSpPr>
        <p:spPr>
          <a:xfrm>
            <a:off x="6766560" y="3566160"/>
            <a:ext cx="1920240" cy="822960"/>
          </a:xfrm>
          <a:prstGeom prst="rect">
            <a:avLst/>
          </a:prstGeom>
          <a:noFill/>
          <a:ln/>
        </p:spPr>
        <p:txBody>
          <a:bodyPr wrap="square" lIns="0" tIns="0" rIns="0" bIns="0" rtlCol="0" anchor="ctr"/>
          <a:lstStyle/>
          <a:p>
            <a:pPr marL="0" indent="0">
              <a:spcAft>
                <a:spcPts val="400"/>
              </a:spcAft>
              <a:buNone/>
            </a:pPr>
            <a:r>
              <a:rPr lang="en-US" sz="1200" dirty="0">
                <a:solidFill>
                  <a:schemeClr val="accent6"/>
                </a:solidFill>
              </a:rPr>
              <a:t>Light green: filled in all 5,000 rows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chemeClr val="tx2"/>
                </a:solidFill>
              </a:rPr>
              <a:t>Dataset at a glance</a:t>
            </a:r>
            <a:endParaRPr lang="en-US" sz="3400" dirty="0"/>
          </a:p>
        </p:txBody>
      </p:sp>
      <p:sp>
        <p:nvSpPr>
          <p:cNvPr id="3" name="Shape 1"/>
          <p:cNvSpPr/>
          <p:nvPr/>
        </p:nvSpPr>
        <p:spPr>
          <a:xfrm>
            <a:off x="457200" y="1234440"/>
            <a:ext cx="2057400" cy="1417320"/>
          </a:xfrm>
          <a:prstGeom prst="roundRect">
            <a:avLst>
              <a:gd name="adj" fmla="val 7742"/>
            </a:avLst>
          </a:prstGeom>
          <a:solidFill>
            <a:schemeClr val="bg2"/>
          </a:solidFill>
          <a:ln/>
        </p:spPr>
      </p:sp>
      <p:sp>
        <p:nvSpPr>
          <p:cNvPr id="4" name="Text 2"/>
          <p:cNvSpPr txBox="1"/>
          <p:nvPr/>
        </p:nvSpPr>
        <p:spPr>
          <a:xfrm>
            <a:off x="640080" y="1417320"/>
            <a:ext cx="1737360" cy="685800"/>
          </a:xfrm>
          <a:prstGeom prst="rect">
            <a:avLst/>
          </a:prstGeom>
          <a:noFill/>
          <a:ln/>
        </p:spPr>
        <p:txBody>
          <a:bodyPr wrap="square" lIns="0" tIns="0" rIns="0" bIns="0" rtlCol="0" anchor="ctr"/>
          <a:lstStyle/>
          <a:p>
            <a:pPr marL="0" indent="0">
              <a:buNone/>
            </a:pPr>
            <a:r>
              <a:rPr lang="en-US" sz="4000" b="1" dirty="0">
                <a:solidFill>
                  <a:schemeClr val="accent2"/>
                </a:solidFill>
              </a:rPr>
              <a:t>5,000</a:t>
            </a:r>
            <a:endParaRPr lang="en-US" sz="4000" dirty="0"/>
          </a:p>
        </p:txBody>
      </p:sp>
      <p:sp>
        <p:nvSpPr>
          <p:cNvPr id="5" name="Text 3"/>
          <p:cNvSpPr txBox="1"/>
          <p:nvPr/>
        </p:nvSpPr>
        <p:spPr>
          <a:xfrm>
            <a:off x="640080" y="2148840"/>
            <a:ext cx="1737360" cy="320040"/>
          </a:xfrm>
          <a:prstGeom prst="rect">
            <a:avLst/>
          </a:prstGeom>
          <a:noFill/>
          <a:ln/>
        </p:spPr>
        <p:txBody>
          <a:bodyPr wrap="square" lIns="0" tIns="0" rIns="0" bIns="0" rtlCol="0" anchor="ctr"/>
          <a:lstStyle/>
          <a:p>
            <a:pPr marL="0" indent="0">
              <a:buNone/>
            </a:pPr>
            <a:r>
              <a:rPr lang="en-US" sz="1400" dirty="0">
                <a:solidFill>
                  <a:schemeClr val="tx1"/>
                </a:solidFill>
              </a:rPr>
              <a:t>records</a:t>
            </a:r>
            <a:endParaRPr lang="en-US" sz="1400" dirty="0"/>
          </a:p>
        </p:txBody>
      </p:sp>
      <p:sp>
        <p:nvSpPr>
          <p:cNvPr id="6" name="Shape 4"/>
          <p:cNvSpPr/>
          <p:nvPr/>
        </p:nvSpPr>
        <p:spPr>
          <a:xfrm>
            <a:off x="2697480" y="1234440"/>
            <a:ext cx="2057400" cy="1417320"/>
          </a:xfrm>
          <a:prstGeom prst="roundRect">
            <a:avLst>
              <a:gd name="adj" fmla="val 7742"/>
            </a:avLst>
          </a:prstGeom>
          <a:solidFill>
            <a:schemeClr val="bg2"/>
          </a:solidFill>
          <a:ln/>
        </p:spPr>
      </p:sp>
      <p:sp>
        <p:nvSpPr>
          <p:cNvPr id="7" name="Text 5"/>
          <p:cNvSpPr txBox="1"/>
          <p:nvPr/>
        </p:nvSpPr>
        <p:spPr>
          <a:xfrm>
            <a:off x="2880360" y="1417320"/>
            <a:ext cx="1737360" cy="685800"/>
          </a:xfrm>
          <a:prstGeom prst="rect">
            <a:avLst/>
          </a:prstGeom>
          <a:noFill/>
          <a:ln/>
        </p:spPr>
        <p:txBody>
          <a:bodyPr wrap="square" lIns="0" tIns="0" rIns="0" bIns="0" rtlCol="0" anchor="ctr"/>
          <a:lstStyle/>
          <a:p>
            <a:pPr marL="0" indent="0">
              <a:buNone/>
            </a:pPr>
            <a:r>
              <a:rPr lang="en-US" sz="4000" b="1" dirty="0">
                <a:solidFill>
                  <a:schemeClr val="accent2"/>
                </a:solidFill>
              </a:rPr>
              <a:t>476</a:t>
            </a:r>
            <a:endParaRPr lang="en-US" sz="4000" dirty="0"/>
          </a:p>
        </p:txBody>
      </p:sp>
      <p:sp>
        <p:nvSpPr>
          <p:cNvPr id="8" name="Text 6"/>
          <p:cNvSpPr txBox="1"/>
          <p:nvPr/>
        </p:nvSpPr>
        <p:spPr>
          <a:xfrm>
            <a:off x="2880360" y="2148840"/>
            <a:ext cx="1737360" cy="320040"/>
          </a:xfrm>
          <a:prstGeom prst="rect">
            <a:avLst/>
          </a:prstGeom>
          <a:noFill/>
          <a:ln/>
        </p:spPr>
        <p:txBody>
          <a:bodyPr wrap="square" lIns="0" tIns="0" rIns="0" bIns="0" rtlCol="0" anchor="ctr"/>
          <a:lstStyle/>
          <a:p>
            <a:pPr marL="0" indent="0">
              <a:buNone/>
            </a:pPr>
            <a:r>
              <a:rPr lang="en-US" sz="1400" dirty="0">
                <a:solidFill>
                  <a:schemeClr val="tx1"/>
                </a:solidFill>
              </a:rPr>
              <a:t>section numbers</a:t>
            </a:r>
            <a:endParaRPr lang="en-US" sz="1400" dirty="0"/>
          </a:p>
        </p:txBody>
      </p:sp>
      <p:sp>
        <p:nvSpPr>
          <p:cNvPr id="9" name="Shape 7"/>
          <p:cNvSpPr/>
          <p:nvPr/>
        </p:nvSpPr>
        <p:spPr>
          <a:xfrm>
            <a:off x="457200" y="2834640"/>
            <a:ext cx="2057400" cy="1417320"/>
          </a:xfrm>
          <a:prstGeom prst="roundRect">
            <a:avLst>
              <a:gd name="adj" fmla="val 7742"/>
            </a:avLst>
          </a:prstGeom>
          <a:solidFill>
            <a:schemeClr val="bg2"/>
          </a:solidFill>
          <a:ln/>
        </p:spPr>
      </p:sp>
      <p:sp>
        <p:nvSpPr>
          <p:cNvPr id="10" name="Text 8"/>
          <p:cNvSpPr txBox="1"/>
          <p:nvPr/>
        </p:nvSpPr>
        <p:spPr>
          <a:xfrm>
            <a:off x="640080" y="3017520"/>
            <a:ext cx="1737360" cy="685800"/>
          </a:xfrm>
          <a:prstGeom prst="rect">
            <a:avLst/>
          </a:prstGeom>
          <a:noFill/>
          <a:ln/>
        </p:spPr>
        <p:txBody>
          <a:bodyPr wrap="square" lIns="0" tIns="0" rIns="0" bIns="0" rtlCol="0" anchor="ctr"/>
          <a:lstStyle/>
          <a:p>
            <a:pPr marL="0" indent="0">
              <a:buNone/>
            </a:pPr>
            <a:r>
              <a:rPr lang="en-US" sz="4000" b="1" dirty="0">
                <a:solidFill>
                  <a:schemeClr val="accent2"/>
                </a:solidFill>
              </a:rPr>
              <a:t>834</a:t>
            </a:r>
            <a:endParaRPr lang="en-US" sz="4000" dirty="0"/>
          </a:p>
        </p:txBody>
      </p:sp>
      <p:sp>
        <p:nvSpPr>
          <p:cNvPr id="11" name="Text 9"/>
          <p:cNvSpPr txBox="1"/>
          <p:nvPr/>
        </p:nvSpPr>
        <p:spPr>
          <a:xfrm>
            <a:off x="640080" y="3749040"/>
            <a:ext cx="1737360" cy="320040"/>
          </a:xfrm>
          <a:prstGeom prst="rect">
            <a:avLst/>
          </a:prstGeom>
          <a:noFill/>
          <a:ln/>
        </p:spPr>
        <p:txBody>
          <a:bodyPr wrap="square" lIns="0" tIns="0" rIns="0" bIns="0" rtlCol="0" anchor="ctr"/>
          <a:lstStyle/>
          <a:p>
            <a:pPr marL="0" indent="0">
              <a:buNone/>
            </a:pPr>
            <a:r>
              <a:rPr lang="en-US" sz="1400" dirty="0">
                <a:solidFill>
                  <a:schemeClr val="tx1"/>
                </a:solidFill>
              </a:rPr>
              <a:t>source records</a:t>
            </a:r>
            <a:endParaRPr lang="en-US" sz="1400" dirty="0"/>
          </a:p>
        </p:txBody>
      </p:sp>
      <p:sp>
        <p:nvSpPr>
          <p:cNvPr id="12" name="Shape 10"/>
          <p:cNvSpPr/>
          <p:nvPr/>
        </p:nvSpPr>
        <p:spPr>
          <a:xfrm>
            <a:off x="2697480" y="2834640"/>
            <a:ext cx="2057400" cy="1417320"/>
          </a:xfrm>
          <a:prstGeom prst="roundRect">
            <a:avLst>
              <a:gd name="adj" fmla="val 7742"/>
            </a:avLst>
          </a:prstGeom>
          <a:solidFill>
            <a:schemeClr val="bg2"/>
          </a:solidFill>
          <a:ln/>
        </p:spPr>
      </p:sp>
      <p:sp>
        <p:nvSpPr>
          <p:cNvPr id="13" name="Text 11"/>
          <p:cNvSpPr txBox="1"/>
          <p:nvPr/>
        </p:nvSpPr>
        <p:spPr>
          <a:xfrm>
            <a:off x="2880360" y="3017520"/>
            <a:ext cx="1737360" cy="685800"/>
          </a:xfrm>
          <a:prstGeom prst="rect">
            <a:avLst/>
          </a:prstGeom>
          <a:noFill/>
          <a:ln/>
        </p:spPr>
        <p:txBody>
          <a:bodyPr wrap="square" lIns="0" tIns="0" rIns="0" bIns="0" rtlCol="0" anchor="ctr"/>
          <a:lstStyle/>
          <a:p>
            <a:pPr marL="0" indent="0">
              <a:buNone/>
            </a:pPr>
            <a:r>
              <a:rPr lang="en-US" sz="4000" b="1" dirty="0">
                <a:solidFill>
                  <a:schemeClr val="accent2"/>
                </a:solidFill>
              </a:rPr>
              <a:t>6</a:t>
            </a:r>
            <a:endParaRPr lang="en-US" sz="4000" dirty="0"/>
          </a:p>
        </p:txBody>
      </p:sp>
      <p:sp>
        <p:nvSpPr>
          <p:cNvPr id="14" name="Text 12"/>
          <p:cNvSpPr txBox="1"/>
          <p:nvPr/>
        </p:nvSpPr>
        <p:spPr>
          <a:xfrm>
            <a:off x="2880360" y="3749040"/>
            <a:ext cx="1737360" cy="320040"/>
          </a:xfrm>
          <a:prstGeom prst="rect">
            <a:avLst/>
          </a:prstGeom>
          <a:noFill/>
          <a:ln/>
        </p:spPr>
        <p:txBody>
          <a:bodyPr wrap="square" lIns="0" tIns="0" rIns="0" bIns="0" rtlCol="0" anchor="ctr"/>
          <a:lstStyle/>
          <a:p>
            <a:pPr marL="0" indent="0">
              <a:buNone/>
            </a:pPr>
            <a:r>
              <a:rPr lang="en-US" sz="1400" dirty="0">
                <a:solidFill>
                  <a:schemeClr val="tx1"/>
                </a:solidFill>
              </a:rPr>
              <a:t>content categories</a:t>
            </a:r>
            <a:endParaRPr lang="en-US" sz="1400" dirty="0"/>
          </a:p>
        </p:txBody>
      </p:sp>
      <p:graphicFrame>
        <p:nvGraphicFramePr>
          <p:cNvPr id="15" name="Chart 0"/>
          <p:cNvGraphicFramePr/>
          <p:nvPr/>
        </p:nvGraphicFramePr>
        <p:xfrm>
          <a:off x="5029200" y="1143000"/>
          <a:ext cx="36576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 13"/>
          <p:cNvSpPr txBox="1"/>
          <p:nvPr/>
        </p:nvSpPr>
        <p:spPr>
          <a:xfrm>
            <a:off x="457200" y="4526280"/>
            <a:ext cx="8229600" cy="320040"/>
          </a:xfrm>
          <a:prstGeom prst="rect">
            <a:avLst/>
          </a:prstGeom>
          <a:noFill/>
          <a:ln/>
        </p:spPr>
        <p:txBody>
          <a:bodyPr wrap="square" lIns="0" tIns="0" rIns="0" bIns="0" rtlCol="0" anchor="ctr"/>
          <a:lstStyle/>
          <a:p>
            <a:pPr marL="0" indent="0">
              <a:buNone/>
            </a:pPr>
            <a:r>
              <a:rPr lang="en-US" sz="1300" i="1" dirty="0">
                <a:solidFill>
                  <a:schemeClr val="accent6"/>
                </a:solidFill>
              </a:rPr>
              <a:t>About 37 words per description (range 7–70). All 5,000 descriptions are unique.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chemeClr val="tx2"/>
                </a:solidFill>
              </a:rPr>
              <a:t>Sources and links</a:t>
            </a:r>
            <a:endParaRPr lang="en-US" sz="3400" dirty="0"/>
          </a:p>
        </p:txBody>
      </p:sp>
      <p:sp>
        <p:nvSpPr>
          <p:cNvPr id="3" name="Shape 1"/>
          <p:cNvSpPr/>
          <p:nvPr/>
        </p:nvSpPr>
        <p:spPr>
          <a:xfrm>
            <a:off x="457200" y="1143000"/>
            <a:ext cx="8229600" cy="457200"/>
          </a:xfrm>
          <a:prstGeom prst="roundRect">
            <a:avLst>
              <a:gd name="adj" fmla="val 24000"/>
            </a:avLst>
          </a:prstGeom>
          <a:solidFill>
            <a:schemeClr val="bg2"/>
          </a:solidFill>
          <a:ln/>
        </p:spPr>
      </p:sp>
      <p:sp>
        <p:nvSpPr>
          <p:cNvPr id="4" name="Text 2"/>
          <p:cNvSpPr txBox="1"/>
          <p:nvPr/>
        </p:nvSpPr>
        <p:spPr>
          <a:xfrm>
            <a:off x="640080" y="1143000"/>
            <a:ext cx="3017520" cy="457200"/>
          </a:xfrm>
          <a:prstGeom prst="rect">
            <a:avLst/>
          </a:prstGeom>
          <a:noFill/>
          <a:ln/>
        </p:spPr>
        <p:txBody>
          <a:bodyPr wrap="square" lIns="0" tIns="0" rIns="0" bIns="0" rtlCol="0" anchor="ctr"/>
          <a:lstStyle/>
          <a:p>
            <a:pPr marL="0" indent="0">
              <a:buNone/>
            </a:pPr>
            <a:r>
              <a:rPr lang="en-US" sz="1300" b="1" dirty="0">
                <a:solidFill>
                  <a:schemeClr val="tx2"/>
                </a:solidFill>
              </a:rPr>
              <a:t>Indian Legal QA (our source)</a:t>
            </a:r>
            <a:endParaRPr lang="en-US" sz="1300" dirty="0"/>
          </a:p>
        </p:txBody>
      </p:sp>
      <p:sp>
        <p:nvSpPr>
          <p:cNvPr id="5" name="Text 3"/>
          <p:cNvSpPr txBox="1"/>
          <p:nvPr/>
        </p:nvSpPr>
        <p:spPr>
          <a:xfrm>
            <a:off x="3703320" y="1143000"/>
            <a:ext cx="4892040" cy="457200"/>
          </a:xfrm>
          <a:prstGeom prst="rect">
            <a:avLst/>
          </a:prstGeom>
          <a:noFill/>
          <a:ln/>
        </p:spPr>
        <p:txBody>
          <a:bodyPr wrap="square" lIns="0" tIns="0" rIns="0" bIns="0" rtlCol="0" anchor="ctr"/>
          <a:lstStyle/>
          <a:p>
            <a:pPr marL="0" indent="0">
              <a:buNone/>
            </a:pPr>
            <a:r>
              <a:rPr lang="en-US" sz="1100" u="sng" dirty="0">
                <a:solidFill>
                  <a:schemeClr val="tx1"/>
                </a:solidFill>
                <a:hlinkClick r:id="rId3">
                  <a:extLst>
                    <a:ext uri="{A12FA001-AC4F-418D-AE19-62706E023703}">
                      <ahyp:hlinkClr xmlns:ahyp="http://schemas.microsoft.com/office/drawing/2018/hyperlinkcolor" val="tx"/>
                    </a:ext>
                  </a:extLst>
                </a:hlinkClick>
              </a:rPr>
              <a:t>https://huggingface.co/datasets/GSMS-B/Indian-Legal-QA-BNS-BNSS-BSA</a:t>
            </a:r>
            <a:endParaRPr lang="en-US" sz="1100" dirty="0"/>
          </a:p>
        </p:txBody>
      </p:sp>
      <p:sp>
        <p:nvSpPr>
          <p:cNvPr id="6" name="Shape 4"/>
          <p:cNvSpPr/>
          <p:nvPr/>
        </p:nvSpPr>
        <p:spPr>
          <a:xfrm>
            <a:off x="457200" y="1664208"/>
            <a:ext cx="8229600" cy="457200"/>
          </a:xfrm>
          <a:prstGeom prst="roundRect">
            <a:avLst>
              <a:gd name="adj" fmla="val 24000"/>
            </a:avLst>
          </a:prstGeom>
          <a:solidFill>
            <a:schemeClr val="bg2"/>
          </a:solidFill>
          <a:ln/>
        </p:spPr>
      </p:sp>
      <p:sp>
        <p:nvSpPr>
          <p:cNvPr id="7" name="Text 5"/>
          <p:cNvSpPr txBox="1"/>
          <p:nvPr/>
        </p:nvSpPr>
        <p:spPr>
          <a:xfrm>
            <a:off x="640080" y="1664208"/>
            <a:ext cx="3017520" cy="457200"/>
          </a:xfrm>
          <a:prstGeom prst="rect">
            <a:avLst/>
          </a:prstGeom>
          <a:noFill/>
          <a:ln/>
        </p:spPr>
        <p:txBody>
          <a:bodyPr wrap="square" lIns="0" tIns="0" rIns="0" bIns="0" rtlCol="0" anchor="ctr"/>
          <a:lstStyle/>
          <a:p>
            <a:pPr marL="0" indent="0">
              <a:buNone/>
            </a:pPr>
            <a:r>
              <a:rPr lang="en-US" sz="1300" b="1" dirty="0">
                <a:solidFill>
                  <a:schemeClr val="tx2"/>
                </a:solidFill>
              </a:rPr>
              <a:t>Indian Legal Knowledge Base</a:t>
            </a:r>
            <a:endParaRPr lang="en-US" sz="1300" dirty="0"/>
          </a:p>
        </p:txBody>
      </p:sp>
      <p:sp>
        <p:nvSpPr>
          <p:cNvPr id="8" name="Text 6"/>
          <p:cNvSpPr txBox="1"/>
          <p:nvPr/>
        </p:nvSpPr>
        <p:spPr>
          <a:xfrm>
            <a:off x="3703320" y="1664208"/>
            <a:ext cx="4892040" cy="457200"/>
          </a:xfrm>
          <a:prstGeom prst="rect">
            <a:avLst/>
          </a:prstGeom>
          <a:noFill/>
          <a:ln/>
        </p:spPr>
        <p:txBody>
          <a:bodyPr wrap="square" lIns="0" tIns="0" rIns="0" bIns="0" rtlCol="0" anchor="ctr"/>
          <a:lstStyle/>
          <a:p>
            <a:pPr marL="0" indent="0">
              <a:buNone/>
            </a:pPr>
            <a:r>
              <a:rPr lang="en-US" sz="1100" u="sng" dirty="0">
                <a:solidFill>
                  <a:schemeClr val="tx1"/>
                </a:solidFill>
                <a:hlinkClick r:id="rId4">
                  <a:extLst>
                    <a:ext uri="{A12FA001-AC4F-418D-AE19-62706E023703}">
                      <ahyp:hlinkClr xmlns:ahyp="http://schemas.microsoft.com/office/drawing/2018/hyperlinkcolor" val="tx"/>
                    </a:ext>
                  </a:extLst>
                </a:hlinkClick>
              </a:rPr>
              <a:t>https://github.com/GSMS-B/indian-legal-knowledge-base-json</a:t>
            </a:r>
            <a:endParaRPr lang="en-US" sz="1100" dirty="0"/>
          </a:p>
        </p:txBody>
      </p:sp>
      <p:sp>
        <p:nvSpPr>
          <p:cNvPr id="9" name="Shape 7"/>
          <p:cNvSpPr/>
          <p:nvPr/>
        </p:nvSpPr>
        <p:spPr>
          <a:xfrm>
            <a:off x="457200" y="2185416"/>
            <a:ext cx="8229600" cy="457200"/>
          </a:xfrm>
          <a:prstGeom prst="roundRect">
            <a:avLst>
              <a:gd name="adj" fmla="val 24000"/>
            </a:avLst>
          </a:prstGeom>
          <a:solidFill>
            <a:schemeClr val="bg2"/>
          </a:solidFill>
          <a:ln/>
        </p:spPr>
      </p:sp>
      <p:sp>
        <p:nvSpPr>
          <p:cNvPr id="10" name="Text 8"/>
          <p:cNvSpPr txBox="1"/>
          <p:nvPr/>
        </p:nvSpPr>
        <p:spPr>
          <a:xfrm>
            <a:off x="640080" y="2185416"/>
            <a:ext cx="3017520" cy="457200"/>
          </a:xfrm>
          <a:prstGeom prst="rect">
            <a:avLst/>
          </a:prstGeom>
          <a:noFill/>
          <a:ln/>
        </p:spPr>
        <p:txBody>
          <a:bodyPr wrap="square" lIns="0" tIns="0" rIns="0" bIns="0" rtlCol="0" anchor="ctr"/>
          <a:lstStyle/>
          <a:p>
            <a:pPr marL="0" indent="0">
              <a:buNone/>
            </a:pPr>
            <a:r>
              <a:rPr lang="en-US" sz="1300" b="1" dirty="0">
                <a:solidFill>
                  <a:schemeClr val="tx2"/>
                </a:solidFill>
              </a:rPr>
              <a:t>Old–new sections mapping</a:t>
            </a:r>
            <a:endParaRPr lang="en-US" sz="1300" dirty="0"/>
          </a:p>
        </p:txBody>
      </p:sp>
      <p:sp>
        <p:nvSpPr>
          <p:cNvPr id="11" name="Text 9"/>
          <p:cNvSpPr txBox="1"/>
          <p:nvPr/>
        </p:nvSpPr>
        <p:spPr>
          <a:xfrm>
            <a:off x="3703320" y="2185416"/>
            <a:ext cx="4892040" cy="457200"/>
          </a:xfrm>
          <a:prstGeom prst="rect">
            <a:avLst/>
          </a:prstGeom>
          <a:noFill/>
          <a:ln/>
        </p:spPr>
        <p:txBody>
          <a:bodyPr wrap="square" lIns="0" tIns="0" rIns="0" bIns="0" rtlCol="0" anchor="ctr"/>
          <a:lstStyle/>
          <a:p>
            <a:pPr marL="0" indent="0">
              <a:buNone/>
            </a:pPr>
            <a:r>
              <a:rPr lang="en-US" sz="1100" u="sng" dirty="0">
                <a:solidFill>
                  <a:schemeClr val="tx1"/>
                </a:solidFill>
                <a:hlinkClick r:id="rId5">
                  <a:extLst>
                    <a:ext uri="{A12FA001-AC4F-418D-AE19-62706E023703}">
                      <ahyp:hlinkClr xmlns:ahyp="http://schemas.microsoft.com/office/drawing/2018/hyperlinkcolor" val="tx"/>
                    </a:ext>
                  </a:extLst>
                </a:hlinkClick>
              </a:rPr>
              <a:t>https://github.com/GSMS-B/ipc-bns-crpc-bnss-iea-bsa-respective-old-new-sections-mapping</a:t>
            </a:r>
            <a:endParaRPr lang="en-US" sz="1100" dirty="0"/>
          </a:p>
        </p:txBody>
      </p:sp>
      <p:sp>
        <p:nvSpPr>
          <p:cNvPr id="12" name="Shape 10"/>
          <p:cNvSpPr/>
          <p:nvPr/>
        </p:nvSpPr>
        <p:spPr>
          <a:xfrm>
            <a:off x="457200" y="2706624"/>
            <a:ext cx="8229600" cy="457200"/>
          </a:xfrm>
          <a:prstGeom prst="roundRect">
            <a:avLst>
              <a:gd name="adj" fmla="val 24000"/>
            </a:avLst>
          </a:prstGeom>
          <a:solidFill>
            <a:schemeClr val="bg2"/>
          </a:solidFill>
          <a:ln/>
        </p:spPr>
      </p:sp>
      <p:sp>
        <p:nvSpPr>
          <p:cNvPr id="13" name="Text 11"/>
          <p:cNvSpPr txBox="1"/>
          <p:nvPr/>
        </p:nvSpPr>
        <p:spPr>
          <a:xfrm>
            <a:off x="640080" y="2706624"/>
            <a:ext cx="3017520" cy="457200"/>
          </a:xfrm>
          <a:prstGeom prst="rect">
            <a:avLst/>
          </a:prstGeom>
          <a:noFill/>
          <a:ln/>
        </p:spPr>
        <p:txBody>
          <a:bodyPr wrap="square" lIns="0" tIns="0" rIns="0" bIns="0" rtlCol="0" anchor="ctr"/>
          <a:lstStyle/>
          <a:p>
            <a:pPr marL="0" indent="0">
              <a:buNone/>
            </a:pPr>
            <a:r>
              <a:rPr lang="en-US" sz="1300" b="1" dirty="0">
                <a:solidFill>
                  <a:schemeClr val="tx2"/>
                </a:solidFill>
              </a:rPr>
              <a:t>open-nyaya</a:t>
            </a:r>
            <a:endParaRPr lang="en-US" sz="1300" dirty="0"/>
          </a:p>
        </p:txBody>
      </p:sp>
      <p:sp>
        <p:nvSpPr>
          <p:cNvPr id="14" name="Text 12"/>
          <p:cNvSpPr txBox="1"/>
          <p:nvPr/>
        </p:nvSpPr>
        <p:spPr>
          <a:xfrm>
            <a:off x="3703320" y="2706624"/>
            <a:ext cx="4892040" cy="457200"/>
          </a:xfrm>
          <a:prstGeom prst="rect">
            <a:avLst/>
          </a:prstGeom>
          <a:noFill/>
          <a:ln/>
        </p:spPr>
        <p:txBody>
          <a:bodyPr wrap="square" lIns="0" tIns="0" rIns="0" bIns="0" rtlCol="0" anchor="ctr"/>
          <a:lstStyle/>
          <a:p>
            <a:pPr marL="0" indent="0">
              <a:buNone/>
            </a:pPr>
            <a:r>
              <a:rPr lang="en-US" sz="1100" u="sng" dirty="0">
                <a:solidFill>
                  <a:schemeClr val="tx1"/>
                </a:solidFill>
                <a:hlinkClick r:id="rId6">
                  <a:extLst>
                    <a:ext uri="{A12FA001-AC4F-418D-AE19-62706E023703}">
                      <ahyp:hlinkClr xmlns:ahyp="http://schemas.microsoft.com/office/drawing/2018/hyperlinkcolor" val="tx"/>
                    </a:ext>
                  </a:extLst>
                </a:hlinkClick>
              </a:rPr>
              <a:t>https://github.com/gargshubham3/open-nyaya</a:t>
            </a:r>
            <a:endParaRPr lang="en-US" sz="1100" dirty="0"/>
          </a:p>
        </p:txBody>
      </p:sp>
      <p:sp>
        <p:nvSpPr>
          <p:cNvPr id="15" name="Shape 13"/>
          <p:cNvSpPr/>
          <p:nvPr/>
        </p:nvSpPr>
        <p:spPr>
          <a:xfrm>
            <a:off x="457200" y="3227832"/>
            <a:ext cx="8229600" cy="457200"/>
          </a:xfrm>
          <a:prstGeom prst="roundRect">
            <a:avLst>
              <a:gd name="adj" fmla="val 24000"/>
            </a:avLst>
          </a:prstGeom>
          <a:solidFill>
            <a:schemeClr val="bg2"/>
          </a:solidFill>
          <a:ln/>
        </p:spPr>
      </p:sp>
      <p:sp>
        <p:nvSpPr>
          <p:cNvPr id="16" name="Text 14"/>
          <p:cNvSpPr txBox="1"/>
          <p:nvPr/>
        </p:nvSpPr>
        <p:spPr>
          <a:xfrm>
            <a:off x="640080" y="3227832"/>
            <a:ext cx="3017520" cy="457200"/>
          </a:xfrm>
          <a:prstGeom prst="rect">
            <a:avLst/>
          </a:prstGeom>
          <a:noFill/>
          <a:ln/>
        </p:spPr>
        <p:txBody>
          <a:bodyPr wrap="square" lIns="0" tIns="0" rIns="0" bIns="0" rtlCol="0" anchor="ctr"/>
          <a:lstStyle/>
          <a:p>
            <a:pPr marL="0" indent="0">
              <a:buNone/>
            </a:pPr>
            <a:r>
              <a:rPr lang="en-US" sz="1300" b="1" dirty="0">
                <a:solidFill>
                  <a:schemeClr val="tx2"/>
                </a:solidFill>
              </a:rPr>
              <a:t>open-laws (KanoonHQ)</a:t>
            </a:r>
            <a:endParaRPr lang="en-US" sz="1300" dirty="0"/>
          </a:p>
        </p:txBody>
      </p:sp>
      <p:sp>
        <p:nvSpPr>
          <p:cNvPr id="17" name="Text 15"/>
          <p:cNvSpPr txBox="1"/>
          <p:nvPr/>
        </p:nvSpPr>
        <p:spPr>
          <a:xfrm>
            <a:off x="3749040" y="3163824"/>
            <a:ext cx="4892040" cy="457200"/>
          </a:xfrm>
          <a:prstGeom prst="rect">
            <a:avLst/>
          </a:prstGeom>
          <a:noFill/>
          <a:ln/>
        </p:spPr>
        <p:txBody>
          <a:bodyPr wrap="square" lIns="0" tIns="0" rIns="0" bIns="0" rtlCol="0" anchor="ctr"/>
          <a:lstStyle/>
          <a:p>
            <a:pPr marL="0" indent="0">
              <a:buNone/>
            </a:pPr>
            <a:r>
              <a:rPr lang="en-US" sz="1100" u="sng" dirty="0">
                <a:solidFill>
                  <a:schemeClr val="tx1"/>
                </a:solidFill>
                <a:hlinkClick r:id="rId7">
                  <a:extLst>
                    <a:ext uri="{A12FA001-AC4F-418D-AE19-62706E023703}">
                      <ahyp:hlinkClr xmlns:ahyp="http://schemas.microsoft.com/office/drawing/2018/hyperlinkcolor" val="tx"/>
                    </a:ext>
                  </a:extLst>
                </a:hlinkClick>
              </a:rPr>
              <a:t>https://github.com/kanoonhq/open-laws</a:t>
            </a:r>
            <a:endParaRPr lang="en-US" sz="1100" dirty="0"/>
          </a:p>
        </p:txBody>
      </p:sp>
      <p:sp>
        <p:nvSpPr>
          <p:cNvPr id="18" name="Shape 16"/>
          <p:cNvSpPr/>
          <p:nvPr/>
        </p:nvSpPr>
        <p:spPr>
          <a:xfrm>
            <a:off x="457200" y="3749040"/>
            <a:ext cx="8229600" cy="457200"/>
          </a:xfrm>
          <a:prstGeom prst="roundRect">
            <a:avLst>
              <a:gd name="adj" fmla="val 24000"/>
            </a:avLst>
          </a:prstGeom>
          <a:solidFill>
            <a:schemeClr val="bg2"/>
          </a:solidFill>
          <a:ln/>
        </p:spPr>
      </p:sp>
      <p:sp>
        <p:nvSpPr>
          <p:cNvPr id="19" name="Text 17"/>
          <p:cNvSpPr txBox="1"/>
          <p:nvPr/>
        </p:nvSpPr>
        <p:spPr>
          <a:xfrm>
            <a:off x="640080" y="3749040"/>
            <a:ext cx="3017520" cy="457200"/>
          </a:xfrm>
          <a:prstGeom prst="rect">
            <a:avLst/>
          </a:prstGeom>
          <a:noFill/>
          <a:ln/>
        </p:spPr>
        <p:txBody>
          <a:bodyPr wrap="square" lIns="0" tIns="0" rIns="0" bIns="0" rtlCol="0" anchor="ctr"/>
          <a:lstStyle/>
          <a:p>
            <a:pPr marL="0" indent="0">
              <a:buNone/>
            </a:pPr>
            <a:r>
              <a:rPr lang="en-US" sz="1300" b="1" dirty="0">
                <a:solidFill>
                  <a:schemeClr val="tx2"/>
                </a:solidFill>
              </a:rPr>
              <a:t>leo-law (BNSS schedule data)</a:t>
            </a:r>
            <a:endParaRPr lang="en-US" sz="1300" dirty="0"/>
          </a:p>
        </p:txBody>
      </p:sp>
      <p:sp>
        <p:nvSpPr>
          <p:cNvPr id="20" name="Text 18"/>
          <p:cNvSpPr txBox="1"/>
          <p:nvPr/>
        </p:nvSpPr>
        <p:spPr>
          <a:xfrm>
            <a:off x="3703320" y="3749040"/>
            <a:ext cx="4892040" cy="457200"/>
          </a:xfrm>
          <a:prstGeom prst="rect">
            <a:avLst/>
          </a:prstGeom>
          <a:noFill/>
          <a:ln/>
        </p:spPr>
        <p:txBody>
          <a:bodyPr wrap="square" lIns="0" tIns="0" rIns="0" bIns="0" rtlCol="0" anchor="ctr"/>
          <a:lstStyle/>
          <a:p>
            <a:pPr marL="0" indent="0">
              <a:buNone/>
            </a:pPr>
            <a:r>
              <a:rPr lang="en-US" sz="1100" u="sng" dirty="0">
                <a:solidFill>
                  <a:schemeClr val="tx1"/>
                </a:solidFill>
                <a:hlinkClick r:id="rId8">
                  <a:extLst>
                    <a:ext uri="{A12FA001-AC4F-418D-AE19-62706E023703}">
                      <ahyp:hlinkClr xmlns:ahyp="http://schemas.microsoft.com/office/drawing/2018/hyperlinkcolor" val="tx"/>
                    </a:ext>
                  </a:extLst>
                </a:hlinkClick>
              </a:rPr>
              <a:t>https://github.com/leojai23/leo-law</a:t>
            </a:r>
            <a:endParaRPr lang="en-US" sz="1100" dirty="0"/>
          </a:p>
        </p:txBody>
      </p:sp>
      <p:sp>
        <p:nvSpPr>
          <p:cNvPr id="21" name="Shape 19"/>
          <p:cNvSpPr/>
          <p:nvPr/>
        </p:nvSpPr>
        <p:spPr>
          <a:xfrm>
            <a:off x="457200" y="4270248"/>
            <a:ext cx="8229600" cy="457200"/>
          </a:xfrm>
          <a:prstGeom prst="roundRect">
            <a:avLst>
              <a:gd name="adj" fmla="val 24000"/>
            </a:avLst>
          </a:prstGeom>
          <a:solidFill>
            <a:schemeClr val="accent1"/>
          </a:solidFill>
          <a:ln/>
        </p:spPr>
      </p:sp>
      <p:sp>
        <p:nvSpPr>
          <p:cNvPr id="22" name="Text 20"/>
          <p:cNvSpPr txBox="1"/>
          <p:nvPr/>
        </p:nvSpPr>
        <p:spPr>
          <a:xfrm>
            <a:off x="640080" y="4270248"/>
            <a:ext cx="3017520" cy="457200"/>
          </a:xfrm>
          <a:prstGeom prst="rect">
            <a:avLst/>
          </a:prstGeom>
          <a:noFill/>
          <a:ln/>
        </p:spPr>
        <p:txBody>
          <a:bodyPr wrap="square" lIns="0" tIns="0" rIns="0" bIns="0" rtlCol="0" anchor="ctr"/>
          <a:lstStyle/>
          <a:p>
            <a:pPr marL="0" indent="0">
              <a:buNone/>
            </a:pPr>
            <a:r>
              <a:rPr lang="en-US" sz="1300" b="1" dirty="0">
                <a:solidFill>
                  <a:schemeClr val="tx2"/>
                </a:solidFill>
              </a:rPr>
              <a:t>Research paper: ILDC for CJPE (ACL 2021)</a:t>
            </a:r>
            <a:endParaRPr lang="en-US" sz="1300" dirty="0"/>
          </a:p>
        </p:txBody>
      </p:sp>
      <p:sp>
        <p:nvSpPr>
          <p:cNvPr id="23" name="Text 21"/>
          <p:cNvSpPr txBox="1"/>
          <p:nvPr/>
        </p:nvSpPr>
        <p:spPr>
          <a:xfrm>
            <a:off x="3703320" y="4270248"/>
            <a:ext cx="4892040" cy="457200"/>
          </a:xfrm>
          <a:prstGeom prst="rect">
            <a:avLst/>
          </a:prstGeom>
          <a:noFill/>
          <a:ln/>
        </p:spPr>
        <p:txBody>
          <a:bodyPr wrap="square" lIns="0" tIns="0" rIns="0" bIns="0" rtlCol="0" anchor="ctr"/>
          <a:lstStyle/>
          <a:p>
            <a:pPr marL="0" indent="0">
              <a:buNone/>
            </a:pPr>
            <a:r>
              <a:rPr lang="en-US" sz="1100" u="sng" dirty="0">
                <a:solidFill>
                  <a:schemeClr val="tx1"/>
                </a:solidFill>
                <a:hlinkClick r:id="rId9">
                  <a:extLst>
                    <a:ext uri="{A12FA001-AC4F-418D-AE19-62706E023703}">
                      <ahyp:hlinkClr xmlns:ahyp="http://schemas.microsoft.com/office/drawing/2018/hyperlinkcolor" val="tx"/>
                    </a:ext>
                  </a:extLst>
                </a:hlinkClick>
              </a:rPr>
              <a:t>https://arxiv.org/abs/2105.13562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chemeClr val="tx2"/>
                </a:solidFill>
              </a:rPr>
              <a:t>What each link contains</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675888"/>
        </p:xfrm>
        <a:graphic>
          <a:graphicData uri="http://schemas.openxmlformats.org/drawingml/2006/table">
            <a:tbl>
              <a:tblPr/>
              <a:tblGrid>
                <a:gridCol w="246888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tblGrid>
              <a:tr h="347472">
                <a:tc>
                  <a:txBody>
                    <a:bodyPr/>
                    <a:lstStyle/>
                    <a:p>
                      <a:pPr marL="0" indent="0">
                        <a:buNone/>
                      </a:pPr>
                      <a:r>
                        <a:rPr lang="en-US" sz="1300" b="1" dirty="0">
                          <a:solidFill>
                            <a:srgbClr val="FFFFFF"/>
                          </a:solidFill>
                        </a:rPr>
                        <a:t>Link</a:t>
                      </a:r>
                      <a:endParaRPr lang="en-US" sz="13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16302B"/>
                    </a:solidFill>
                  </a:tcPr>
                </a:tc>
                <a:tc>
                  <a:txBody>
                    <a:bodyPr/>
                    <a:lstStyle/>
                    <a:p>
                      <a:pPr marL="0" indent="0">
                        <a:buNone/>
                      </a:pPr>
                      <a:r>
                        <a:rPr lang="en-US" sz="1300" b="1" dirty="0">
                          <a:solidFill>
                            <a:srgbClr val="FFFFFF"/>
                          </a:solidFill>
                        </a:rPr>
                        <a:t>What it contains</a:t>
                      </a:r>
                      <a:endParaRPr lang="en-US" sz="13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16302B"/>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B1B1B"/>
                          </a:solidFill>
                        </a:rPr>
                        <a:t>Indian Legal QA (Hugging Face)</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6,354 Q&amp;A pairs on 1,059 sections of BNS, BNSS and BSA, six questions per section, in JSONL.</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B1B1B"/>
                          </a:solidFill>
                        </a:rPr>
                        <a:t>Indian Legal Knowledge Base</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102 Indian Acts and codes: 12,174 sections in 112 JSON files, plus one master sections.json.</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B1B1B"/>
                          </a:solidFill>
                        </a:rPr>
                        <a:t>Old–new sections mapping</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JSON maps IPC to BNS, CrPC to BNSS and IEA to BSA, with a status per section (retained, changed, new, deleted).</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B1B1B"/>
                          </a:solidFill>
                        </a:rPr>
                        <a:t>open-nyaya</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Full text of 358 BNS, 531 BNSS and 170 BSA sections, 2,600+ section mappings, and a Python toolkit.</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B1B1B"/>
                          </a:solidFill>
                        </a:rPr>
                        <a:t>open-laws (KanoonHQ)</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36,895 sections of Indian central Acts as Parquet and JSONL, with IPC–BNS style transition mappings.</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B1B1B"/>
                          </a:solidFill>
                        </a:rPr>
                        <a:t>leo-law</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200" dirty="0">
                          <a:solidFill>
                            <a:srgbClr val="1B1B1B"/>
                          </a:solidFill>
                        </a:rPr>
                        <a:t>Full BNS text (358 sections) and BNSS First Schedule classification: cognizable, bailable, court (288 sections).</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B1B1B"/>
                          </a:solidFill>
                        </a:rPr>
                        <a:t>ILDC paper (ACL 2021)</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BE9A8"/>
                    </a:solidFill>
                  </a:tcPr>
                </a:tc>
                <a:tc>
                  <a:txBody>
                    <a:bodyPr/>
                    <a:lstStyle/>
                    <a:p>
                      <a:pPr marL="0" indent="0">
                        <a:buNone/>
                      </a:pPr>
                      <a:r>
                        <a:rPr lang="en-US" sz="1200" dirty="0">
                          <a:solidFill>
                            <a:srgbClr val="1B1B1B"/>
                          </a:solidFill>
                        </a:rPr>
                        <a:t>Corpus of 35,000 Indian Supreme Court cases with decisions. Best model: 78% accuracy vs 94% for legal experts.</a:t>
                      </a:r>
                      <a:endParaRPr lang="en-US" sz="1200" dirty="0"/>
                    </a:p>
                  </a:txBody>
                  <a:tcPr marT="36576" marB="36576"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BE9A8"/>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31520"/>
          </a:xfrm>
          <a:prstGeom prst="rect">
            <a:avLst/>
          </a:prstGeom>
          <a:noFill/>
          <a:ln/>
        </p:spPr>
        <p:txBody>
          <a:bodyPr wrap="square" lIns="0" tIns="0" rIns="0" bIns="0" rtlCol="0" anchor="ctr"/>
          <a:lstStyle/>
          <a:p>
            <a:pPr marL="0" indent="0">
              <a:buNone/>
            </a:pPr>
            <a:r>
              <a:rPr lang="en-US" sz="3400" b="1" dirty="0">
                <a:solidFill>
                  <a:schemeClr val="tx2"/>
                </a:solidFill>
              </a:rPr>
              <a:t>What each link contains</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657600"/>
        </p:xfrm>
        <a:graphic>
          <a:graphicData uri="http://schemas.openxmlformats.org/drawingml/2006/table">
            <a:tbl>
              <a:tblPr/>
              <a:tblGrid>
                <a:gridCol w="22860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rPr>
                        <a:t>Link</a:t>
                      </a:r>
                      <a:endParaRPr lang="en-US" sz="12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16302B"/>
                    </a:solidFill>
                  </a:tcPr>
                </a:tc>
                <a:tc>
                  <a:txBody>
                    <a:bodyPr/>
                    <a:lstStyle/>
                    <a:p>
                      <a:pPr marL="0" indent="0">
                        <a:buNone/>
                      </a:pPr>
                      <a:r>
                        <a:rPr lang="en-US" sz="1200" b="1" dirty="0">
                          <a:solidFill>
                            <a:srgbClr val="FFFFFF"/>
                          </a:solidFill>
                        </a:rPr>
                        <a:t>What it contains</a:t>
                      </a:r>
                      <a:endParaRPr lang="en-US" sz="12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16302B"/>
                    </a:solidFill>
                  </a:tcPr>
                </a:tc>
                <a:tc>
                  <a:txBody>
                    <a:bodyPr/>
                    <a:lstStyle/>
                    <a:p>
                      <a:pPr marL="0" indent="0">
                        <a:buNone/>
                      </a:pPr>
                      <a:r>
                        <a:rPr lang="en-US" sz="1200" b="1" dirty="0">
                          <a:solidFill>
                            <a:srgbClr val="FFFFFF"/>
                          </a:solidFill>
                        </a:rPr>
                        <a:t>Tool or method</a:t>
                      </a:r>
                      <a:endParaRPr lang="en-US" sz="12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16302B"/>
                    </a:solidFill>
                  </a:tcPr>
                </a:tc>
                <a:extLst>
                  <a:ext uri="{0D108BD9-81ED-4DB2-BD59-A6C34878D82A}">
                    <a16:rowId xmlns:a16="http://schemas.microsoft.com/office/drawing/2014/main" val="10000"/>
                  </a:ext>
                </a:extLst>
              </a:tr>
              <a:tr h="457200">
                <a:tc>
                  <a:txBody>
                    <a:bodyPr/>
                    <a:lstStyle/>
                    <a:p>
                      <a:pPr marL="0" indent="0">
                        <a:buNone/>
                      </a:pPr>
                      <a:r>
                        <a:rPr lang="en-US" sz="1100" b="1" dirty="0">
                          <a:solidFill>
                            <a:srgbClr val="1B1B1B"/>
                          </a:solidFill>
                        </a:rPr>
                        <a:t>Indian Legal QA (Hugging Face)</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BE9A8"/>
                    </a:solidFill>
                  </a:tcPr>
                </a:tc>
                <a:tc>
                  <a:txBody>
                    <a:bodyPr/>
                    <a:lstStyle/>
                    <a:p>
                      <a:pPr marL="0" indent="0">
                        <a:buNone/>
                      </a:pPr>
                      <a:r>
                        <a:rPr lang="en-US" sz="1100" dirty="0">
                          <a:solidFill>
                            <a:srgbClr val="1B1B1B"/>
                          </a:solidFill>
                        </a:rPr>
                        <a:t>6,354 Q&amp;A pairs for 1,059 sections, six questions per section</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BE9A8"/>
                    </a:solidFill>
                  </a:tcPr>
                </a:tc>
                <a:tc>
                  <a:txBody>
                    <a:bodyPr/>
                    <a:lstStyle/>
                    <a:p>
                      <a:pPr marL="0" indent="0">
                        <a:buNone/>
                      </a:pPr>
                      <a:r>
                        <a:rPr lang="en-US" sz="1100" dirty="0">
                          <a:solidFill>
                            <a:srgbClr val="1B1B1B"/>
                          </a:solidFill>
                        </a:rPr>
                        <a:t>JSONL files, loaded with the Hugging Face datasets library</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BE9A8"/>
                    </a:solidFill>
                  </a:tcPr>
                </a:tc>
                <a:extLst>
                  <a:ext uri="{0D108BD9-81ED-4DB2-BD59-A6C34878D82A}">
                    <a16:rowId xmlns:a16="http://schemas.microsoft.com/office/drawing/2014/main" val="10001"/>
                  </a:ext>
                </a:extLst>
              </a:tr>
              <a:tr h="457200">
                <a:tc>
                  <a:txBody>
                    <a:bodyPr/>
                    <a:lstStyle/>
                    <a:p>
                      <a:pPr marL="0" indent="0">
                        <a:buNone/>
                      </a:pPr>
                      <a:r>
                        <a:rPr lang="en-US" sz="1100" b="1" dirty="0">
                          <a:solidFill>
                            <a:srgbClr val="1B1B1B"/>
                          </a:solidFill>
                        </a:rPr>
                        <a:t>Legal Knowledge Base (GitHub)</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102 Acts, 12,174 sections in 112 JSON files</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Structured JSON corpus, read with Python json</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100" b="1" dirty="0">
                          <a:solidFill>
                            <a:srgbClr val="1B1B1B"/>
                          </a:solidFill>
                        </a:rPr>
                        <a:t>Old–new Mapping (GitHub)</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IPC to BNS, CrPC to BNSS, IEA to BSA mappings</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JSON records with source and target fields</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b="1" dirty="0">
                          <a:solidFill>
                            <a:srgbClr val="1B1B1B"/>
                          </a:solidFill>
                        </a:rPr>
                        <a:t>open-nyaya (GitHub)</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Full text of 358 BNS, 531 BNSS, 170 BSA sections</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Python 3.9+ with Pydantic schemas</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100" b="1" dirty="0">
                          <a:solidFill>
                            <a:srgbClr val="1B1B1B"/>
                          </a:solidFill>
                        </a:rPr>
                        <a:t>open-laws (GitHub)</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36,895 sections of Indian Acts, plus mappings</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Parquet and JSONL files with SHA-256 checksums</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00" b="1" dirty="0">
                          <a:solidFill>
                            <a:srgbClr val="1B1B1B"/>
                          </a:solidFill>
                        </a:rPr>
                        <a:t>leo-law (GitHub)</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358 BNS sections; BNSS schedule data for 288</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Python scripts that parse official PDFs into JSON</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100" b="1" dirty="0">
                          <a:solidFill>
                            <a:srgbClr val="1B1B1B"/>
                          </a:solidFill>
                        </a:rPr>
                        <a:t>ILDC paper (arXiv)</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35,000 Supreme Court cases with decisions</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tc>
                  <a:txBody>
                    <a:bodyPr/>
                    <a:lstStyle/>
                    <a:p>
                      <a:pPr marL="0" indent="0">
                        <a:buNone/>
                      </a:pPr>
                      <a:r>
                        <a:rPr lang="en-US" sz="1100" dirty="0">
                          <a:solidFill>
                            <a:srgbClr val="1B1B1B"/>
                          </a:solidFill>
                        </a:rPr>
                        <a:t>Labels added by legal experts</a:t>
                      </a:r>
                      <a:endParaRPr lang="en-US" sz="1100" dirty="0"/>
                    </a:p>
                  </a:txBody>
                  <a:tcPr marT="27432" marB="27432" anchor="ctr">
                    <a:lnL w="9525" cap="flat" cmpd="sng" algn="ctr">
                      <a:solidFill>
                        <a:srgbClr val="CCD6D3"/>
                      </a:solidFill>
                      <a:prstDash val="solid"/>
                      <a:round/>
                      <a:headEnd type="none" w="med" len="med"/>
                      <a:tailEnd type="none" w="med" len="med"/>
                    </a:lnL>
                    <a:lnR w="9525" cap="flat" cmpd="sng" algn="ctr">
                      <a:solidFill>
                        <a:srgbClr val="CCD6D3"/>
                      </a:solidFill>
                      <a:prstDash val="solid"/>
                      <a:round/>
                      <a:headEnd type="none" w="med" len="med"/>
                      <a:tailEnd type="none" w="med" len="med"/>
                    </a:lnR>
                    <a:lnT w="9525" cap="flat" cmpd="sng" algn="ctr">
                      <a:solidFill>
                        <a:srgbClr val="CCD6D3"/>
                      </a:solidFill>
                      <a:prstDash val="solid"/>
                      <a:round/>
                      <a:headEnd type="none" w="med" len="med"/>
                      <a:tailEnd type="none" w="med" len="med"/>
                    </a:lnT>
                    <a:lnB w="9525" cap="flat" cmpd="sng" algn="ctr">
                      <a:solidFill>
                        <a:srgbClr val="CCD6D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theme/theme1.xml><?xml version="1.0" encoding="utf-8"?>
<a:theme xmlns:a="http://schemas.openxmlformats.org/drawingml/2006/main" name="Justice">
  <a:themeElements>
    <a:clrScheme name="Justice">
      <a:dk1>
        <a:srgbClr val="1B1B1B"/>
      </a:dk1>
      <a:lt1>
        <a:srgbClr val="FFFFFF"/>
      </a:lt1>
      <a:dk2>
        <a:srgbClr val="16302B"/>
      </a:dk2>
      <a:lt2>
        <a:srgbClr val="EEF3F1"/>
      </a:lt2>
      <a:accent1>
        <a:srgbClr val="D9A404"/>
      </a:accent1>
      <a:accent2>
        <a:srgbClr val="2E7D6B"/>
      </a:accent2>
      <a:accent3>
        <a:srgbClr val="B5483A"/>
      </a:accent3>
      <a:accent4>
        <a:srgbClr val="5B8C85"/>
      </a:accent4>
      <a:accent5>
        <a:srgbClr val="8A6D1D"/>
      </a:accent5>
      <a:accent6>
        <a:srgbClr val="6B7F7B"/>
      </a:accent6>
      <a:hlink>
        <a:srgbClr val="2E7D6B"/>
      </a:hlink>
      <a:folHlink>
        <a:srgbClr val="6B7F7B"/>
      </a:folHlink>
    </a:clrScheme>
    <a:fontScheme name="Just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196</TotalTime>
  <Words>1432</Words>
  <Application>Microsoft Office PowerPoint</Application>
  <PresentationFormat>On-screen Show (16:9)</PresentationFormat>
  <Paragraphs>187</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Justice</vt:lpstr>
      <vt:lpstr>Indian Criminal Law Dataset</vt:lpstr>
      <vt:lpstr>Four questions, answered</vt:lpstr>
      <vt:lpstr>What exists vs. ours</vt:lpstr>
      <vt:lpstr>How we built it</vt:lpstr>
      <vt:lpstr>What we changed</vt:lpstr>
      <vt:lpstr>Dataset columns</vt:lpstr>
      <vt:lpstr>Dataset at a glance</vt:lpstr>
      <vt:lpstr>Sources and links</vt:lpstr>
      <vt:lpstr>What each link contains</vt:lpstr>
      <vt:lpstr>What each link contains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Criminal Law Dataset: how we built it</dc:title>
  <dc:subject>PptxGenJS Presentation</dc:subject>
  <dc:creator>PptxGenJS</dc:creator>
  <cp:lastModifiedBy>RUTIKA GHUTUKADE</cp:lastModifiedBy>
  <cp:revision>4</cp:revision>
  <dcterms:created xsi:type="dcterms:W3CDTF">2026-10-26T08:51:46Z</dcterms:created>
  <dcterms:modified xsi:type="dcterms:W3CDTF">2026-10-26T18:05:34Z</dcterms:modified>
</cp:coreProperties>
</file>